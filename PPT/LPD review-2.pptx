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337" r:id="rId2"/>
    <p:sldId id="338" r:id="rId3"/>
    <p:sldId id="339" r:id="rId4"/>
    <p:sldId id="340" r:id="rId5"/>
    <p:sldId id="341" r:id="rId6"/>
    <p:sldId id="342" r:id="rId7"/>
    <p:sldId id="343" r:id="rId8"/>
    <p:sldId id="352" r:id="rId9"/>
    <p:sldId id="344" r:id="rId10"/>
    <p:sldId id="346" r:id="rId11"/>
    <p:sldId id="345" r:id="rId12"/>
    <p:sldId id="347" r:id="rId13"/>
    <p:sldId id="348" r:id="rId14"/>
    <p:sldId id="350" r:id="rId15"/>
    <p:sldId id="35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9804" autoAdjust="0"/>
  </p:normalViewPr>
  <p:slideViewPr>
    <p:cSldViewPr snapToGrid="0">
      <p:cViewPr varScale="1">
        <p:scale>
          <a:sx n="74" d="100"/>
          <a:sy n="74" d="100"/>
        </p:scale>
        <p:origin x="132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028FAA-CEA5-41BB-9423-A189CDB8D309}" type="datetimeFigureOut">
              <a:rPr lang="en-IN" smtClean="0"/>
              <a:t>10-07-2025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CC67DB-3C06-4E76-87F2-C5BDCD4A4C7E}" type="slidenum">
              <a:rPr lang="en-IN" smtClean="0"/>
              <a:t>‹#›</a:t>
            </a:fld>
            <a:endParaRPr lang="en-IN"/>
          </a:p>
        </p:txBody>
      </p:sp>
    </p:spTree>
    <p:extLst>
      <p:ext uri="{BB962C8B-B14F-4D97-AF65-F5344CB8AC3E}">
        <p14:creationId xmlns:p14="http://schemas.microsoft.com/office/powerpoint/2010/main" val="30937500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14028FAA-CEA5-41BB-9423-A189CDB8D309}" type="datetimeFigureOut">
              <a:rPr lang="en-IN" smtClean="0"/>
              <a:t>10-07-2025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CC67DB-3C06-4E76-87F2-C5BDCD4A4C7E}" type="slidenum">
              <a:rPr lang="en-IN" smtClean="0"/>
              <a:t>‹#›</a:t>
            </a:fld>
            <a:endParaRPr lang="en-IN"/>
          </a:p>
        </p:txBody>
      </p:sp>
    </p:spTree>
    <p:extLst>
      <p:ext uri="{BB962C8B-B14F-4D97-AF65-F5344CB8AC3E}">
        <p14:creationId xmlns:p14="http://schemas.microsoft.com/office/powerpoint/2010/main" val="2408226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028FAA-CEA5-41BB-9423-A189CDB8D309}" type="datetimeFigureOut">
              <a:rPr lang="en-IN" smtClean="0"/>
              <a:t>10-07-2025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CC67DB-3C06-4E76-87F2-C5BDCD4A4C7E}" type="slidenum">
              <a:rPr lang="en-IN" smtClean="0"/>
              <a:t>‹#›</a:t>
            </a:fld>
            <a:endParaRPr lang="en-IN"/>
          </a:p>
        </p:txBody>
      </p:sp>
    </p:spTree>
    <p:extLst>
      <p:ext uri="{BB962C8B-B14F-4D97-AF65-F5344CB8AC3E}">
        <p14:creationId xmlns:p14="http://schemas.microsoft.com/office/powerpoint/2010/main" val="40154235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028FAA-CEA5-41BB-9423-A189CDB8D309}" type="datetimeFigureOut">
              <a:rPr lang="en-IN" smtClean="0"/>
              <a:t>10-07-2025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4CC67DB-3C06-4E76-87F2-C5BDCD4A4C7E}" type="slidenum">
              <a:rPr lang="en-IN" smtClean="0"/>
              <a:t>‹#›</a:t>
            </a:fld>
            <a:endParaRPr lang="en-IN"/>
          </a:p>
        </p:txBody>
      </p:sp>
    </p:spTree>
    <p:extLst>
      <p:ext uri="{BB962C8B-B14F-4D97-AF65-F5344CB8AC3E}">
        <p14:creationId xmlns:p14="http://schemas.microsoft.com/office/powerpoint/2010/main" val="27444667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028FAA-CEA5-41BB-9423-A189CDB8D309}" type="datetimeFigureOut">
              <a:rPr lang="en-IN" smtClean="0"/>
              <a:t>10-07-2025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4CC67DB-3C06-4E76-87F2-C5BDCD4A4C7E}" type="slidenum">
              <a:rPr lang="en-IN" smtClean="0"/>
              <a:t>‹#›</a:t>
            </a:fld>
            <a:endParaRPr lang="en-IN"/>
          </a:p>
        </p:txBody>
      </p:sp>
    </p:spTree>
    <p:extLst>
      <p:ext uri="{BB962C8B-B14F-4D97-AF65-F5344CB8AC3E}">
        <p14:creationId xmlns:p14="http://schemas.microsoft.com/office/powerpoint/2010/main" val="2487098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14028FAA-CEA5-41BB-9423-A189CDB8D309}" type="datetimeFigureOut">
              <a:rPr lang="en-IN" smtClean="0"/>
              <a:t>10-07-2025</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34CC67DB-3C06-4E76-87F2-C5BDCD4A4C7E}" type="slidenum">
              <a:rPr lang="en-IN" smtClean="0"/>
              <a:t>‹#›</a:t>
            </a:fld>
            <a:endParaRPr lang="en-IN"/>
          </a:p>
        </p:txBody>
      </p:sp>
    </p:spTree>
    <p:extLst>
      <p:ext uri="{BB962C8B-B14F-4D97-AF65-F5344CB8AC3E}">
        <p14:creationId xmlns:p14="http://schemas.microsoft.com/office/powerpoint/2010/main" val="2153091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14028FAA-CEA5-41BB-9423-A189CDB8D309}" type="datetimeFigureOut">
              <a:rPr lang="en-IN" smtClean="0"/>
              <a:t>10-07-2025</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34CC67DB-3C06-4E76-87F2-C5BDCD4A4C7E}" type="slidenum">
              <a:rPr lang="en-IN" smtClean="0"/>
              <a:t>‹#›</a:t>
            </a:fld>
            <a:endParaRPr lang="en-IN"/>
          </a:p>
        </p:txBody>
      </p:sp>
    </p:spTree>
    <p:extLst>
      <p:ext uri="{BB962C8B-B14F-4D97-AF65-F5344CB8AC3E}">
        <p14:creationId xmlns:p14="http://schemas.microsoft.com/office/powerpoint/2010/main" val="2781844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14028FAA-CEA5-41BB-9423-A189CDB8D309}" type="datetimeFigureOut">
              <a:rPr lang="en-IN" smtClean="0"/>
              <a:t>10-07-2025</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34CC67DB-3C06-4E76-87F2-C5BDCD4A4C7E}" type="slidenum">
              <a:rPr lang="en-IN" smtClean="0"/>
              <a:t>‹#›</a:t>
            </a:fld>
            <a:endParaRPr lang="en-IN"/>
          </a:p>
        </p:txBody>
      </p:sp>
    </p:spTree>
    <p:extLst>
      <p:ext uri="{BB962C8B-B14F-4D97-AF65-F5344CB8AC3E}">
        <p14:creationId xmlns:p14="http://schemas.microsoft.com/office/powerpoint/2010/main" val="27408748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4028FAA-CEA5-41BB-9423-A189CDB8D309}" type="datetimeFigureOut">
              <a:rPr lang="en-IN" smtClean="0"/>
              <a:t>10-07-2025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4CC67DB-3C06-4E76-87F2-C5BDCD4A4C7E}" type="slidenum">
              <a:rPr lang="en-IN" smtClean="0"/>
              <a:t>‹#›</a:t>
            </a:fld>
            <a:endParaRPr lang="en-IN"/>
          </a:p>
        </p:txBody>
      </p:sp>
    </p:spTree>
    <p:extLst>
      <p:ext uri="{BB962C8B-B14F-4D97-AF65-F5344CB8AC3E}">
        <p14:creationId xmlns:p14="http://schemas.microsoft.com/office/powerpoint/2010/main" val="2940321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4028FAA-CEA5-41BB-9423-A189CDB8D309}" type="datetimeFigureOut">
              <a:rPr lang="en-IN" smtClean="0"/>
              <a:t>10-07-2025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4CC67DB-3C06-4E76-87F2-C5BDCD4A4C7E}" type="slidenum">
              <a:rPr lang="en-IN" smtClean="0"/>
              <a:t>‹#›</a:t>
            </a:fld>
            <a:endParaRPr lang="en-IN"/>
          </a:p>
        </p:txBody>
      </p:sp>
    </p:spTree>
    <p:extLst>
      <p:ext uri="{BB962C8B-B14F-4D97-AF65-F5344CB8AC3E}">
        <p14:creationId xmlns:p14="http://schemas.microsoft.com/office/powerpoint/2010/main" val="40070435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4028FAA-CEA5-41BB-9423-A189CDB8D309}" type="datetimeFigureOut">
              <a:rPr lang="en-IN" smtClean="0"/>
              <a:t>10-07-2025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CC67DB-3C06-4E76-87F2-C5BDCD4A4C7E}" type="slidenum">
              <a:rPr lang="en-IN" smtClean="0"/>
              <a:t>‹#›</a:t>
            </a:fld>
            <a:endParaRPr lang="en-IN"/>
          </a:p>
        </p:txBody>
      </p:sp>
    </p:spTree>
    <p:extLst>
      <p:ext uri="{BB962C8B-B14F-4D97-AF65-F5344CB8AC3E}">
        <p14:creationId xmlns:p14="http://schemas.microsoft.com/office/powerpoint/2010/main" val="29484922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4028FAA-CEA5-41BB-9423-A189CDB8D309}" type="datetimeFigureOut">
              <a:rPr lang="en-IN" smtClean="0"/>
              <a:t>10-07-2025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CC67DB-3C06-4E76-87F2-C5BDCD4A4C7E}"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7446650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028FAA-CEA5-41BB-9423-A189CDB8D309}" type="datetimeFigureOut">
              <a:rPr lang="en-IN" smtClean="0"/>
              <a:t>10-07-2025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CC67DB-3C06-4E76-87F2-C5BDCD4A4C7E}" type="slidenum">
              <a:rPr lang="en-IN" smtClean="0"/>
              <a:t>‹#›</a:t>
            </a:fld>
            <a:endParaRPr lang="en-IN"/>
          </a:p>
        </p:txBody>
      </p:sp>
    </p:spTree>
    <p:extLst>
      <p:ext uri="{BB962C8B-B14F-4D97-AF65-F5344CB8AC3E}">
        <p14:creationId xmlns:p14="http://schemas.microsoft.com/office/powerpoint/2010/main" val="20576718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4028FAA-CEA5-41BB-9423-A189CDB8D309}" type="datetimeFigureOut">
              <a:rPr lang="en-IN" smtClean="0"/>
              <a:t>10-07-2025</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CC67DB-3C06-4E76-87F2-C5BDCD4A4C7E}" type="slidenum">
              <a:rPr lang="en-IN" smtClean="0"/>
              <a:t>‹#›</a:t>
            </a:fld>
            <a:endParaRPr lang="en-IN"/>
          </a:p>
        </p:txBody>
      </p:sp>
    </p:spTree>
    <p:extLst>
      <p:ext uri="{BB962C8B-B14F-4D97-AF65-F5344CB8AC3E}">
        <p14:creationId xmlns:p14="http://schemas.microsoft.com/office/powerpoint/2010/main" val="10378827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4028FAA-CEA5-41BB-9423-A189CDB8D309}" type="datetimeFigureOut">
              <a:rPr lang="en-IN" smtClean="0"/>
              <a:t>10-07-2025</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CC67DB-3C06-4E76-87F2-C5BDCD4A4C7E}" type="slidenum">
              <a:rPr lang="en-IN" smtClean="0"/>
              <a:t>‹#›</a:t>
            </a:fld>
            <a:endParaRPr lang="en-IN"/>
          </a:p>
        </p:txBody>
      </p:sp>
    </p:spTree>
    <p:extLst>
      <p:ext uri="{BB962C8B-B14F-4D97-AF65-F5344CB8AC3E}">
        <p14:creationId xmlns:p14="http://schemas.microsoft.com/office/powerpoint/2010/main" val="11814674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028FAA-CEA5-41BB-9423-A189CDB8D309}" type="datetimeFigureOut">
              <a:rPr lang="en-IN" smtClean="0"/>
              <a:t>10-07-2025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CC67DB-3C06-4E76-87F2-C5BDCD4A4C7E}" type="slidenum">
              <a:rPr lang="en-IN" smtClean="0"/>
              <a:t>‹#›</a:t>
            </a:fld>
            <a:endParaRPr lang="en-IN"/>
          </a:p>
        </p:txBody>
      </p:sp>
    </p:spTree>
    <p:extLst>
      <p:ext uri="{BB962C8B-B14F-4D97-AF65-F5344CB8AC3E}">
        <p14:creationId xmlns:p14="http://schemas.microsoft.com/office/powerpoint/2010/main" val="20559693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028FAA-CEA5-41BB-9423-A189CDB8D309}" type="datetimeFigureOut">
              <a:rPr lang="en-IN" smtClean="0"/>
              <a:t>10-07-2025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CC67DB-3C06-4E76-87F2-C5BDCD4A4C7E}" type="slidenum">
              <a:rPr lang="en-IN" smtClean="0"/>
              <a:t>‹#›</a:t>
            </a:fld>
            <a:endParaRPr lang="en-IN"/>
          </a:p>
        </p:txBody>
      </p:sp>
    </p:spTree>
    <p:extLst>
      <p:ext uri="{BB962C8B-B14F-4D97-AF65-F5344CB8AC3E}">
        <p14:creationId xmlns:p14="http://schemas.microsoft.com/office/powerpoint/2010/main" val="3895519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14028FAA-CEA5-41BB-9423-A189CDB8D309}" type="datetimeFigureOut">
              <a:rPr lang="en-IN" smtClean="0"/>
              <a:t>10-07-2025</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34CC67DB-3C06-4E76-87F2-C5BDCD4A4C7E}" type="slidenum">
              <a:rPr lang="en-IN" smtClean="0"/>
              <a:t>‹#›</a:t>
            </a:fld>
            <a:endParaRPr lang="en-IN"/>
          </a:p>
        </p:txBody>
      </p:sp>
    </p:spTree>
    <p:extLst>
      <p:ext uri="{BB962C8B-B14F-4D97-AF65-F5344CB8AC3E}">
        <p14:creationId xmlns:p14="http://schemas.microsoft.com/office/powerpoint/2010/main" val="2298223139"/>
      </p:ext>
    </p:extLst>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7DADF86-198F-D5BF-4AC3-82295914B44B}"/>
              </a:ext>
            </a:extLst>
          </p:cNvPr>
          <p:cNvSpPr>
            <a:spLocks noGrp="1"/>
          </p:cNvSpPr>
          <p:nvPr>
            <p:ph type="subTitle" idx="1"/>
          </p:nvPr>
        </p:nvSpPr>
        <p:spPr>
          <a:xfrm>
            <a:off x="752983" y="1700982"/>
            <a:ext cx="11163714" cy="1380678"/>
          </a:xfrm>
        </p:spPr>
        <p:txBody>
          <a:bodyPr>
            <a:noAutofit/>
          </a:bodyPr>
          <a:lstStyle/>
          <a:p>
            <a:pPr algn="ctr"/>
            <a:r>
              <a:rPr lang="en-IN" sz="1600" b="1" dirty="0">
                <a:latin typeface="Georgia" panose="02040502050405020303" pitchFamily="18" charset="0"/>
              </a:rPr>
              <a:t>DEPARTMENT OF COMPUTER SCIENCE </a:t>
            </a:r>
          </a:p>
          <a:p>
            <a:endParaRPr lang="en-IN" sz="1600" b="1" dirty="0"/>
          </a:p>
          <a:p>
            <a:pPr algn="ctr"/>
            <a:r>
              <a:rPr lang="en-IN" sz="2000" b="1" dirty="0">
                <a:latin typeface="Times New Roman" panose="02020603050405020304" pitchFamily="18" charset="0"/>
                <a:cs typeface="Times New Roman" panose="02020603050405020304" pitchFamily="18" charset="0"/>
              </a:rPr>
              <a:t>DESIGN OF PORTABLE LAND PARAMETER MEASURING DEVICE ON MACHINE LEARNING USING IoT</a:t>
            </a:r>
          </a:p>
        </p:txBody>
      </p:sp>
      <p:sp>
        <p:nvSpPr>
          <p:cNvPr id="5" name="TextBox 4">
            <a:extLst>
              <a:ext uri="{FF2B5EF4-FFF2-40B4-BE49-F238E27FC236}">
                <a16:creationId xmlns:a16="http://schemas.microsoft.com/office/drawing/2014/main" id="{03263E01-0A36-87AE-3442-F58B3B822C5D}"/>
              </a:ext>
            </a:extLst>
          </p:cNvPr>
          <p:cNvSpPr txBox="1"/>
          <p:nvPr/>
        </p:nvSpPr>
        <p:spPr>
          <a:xfrm>
            <a:off x="-2784021" y="717756"/>
            <a:ext cx="15262459" cy="1077218"/>
          </a:xfrm>
          <a:prstGeom prst="rect">
            <a:avLst/>
          </a:prstGeom>
          <a:noFill/>
        </p:spPr>
        <p:txBody>
          <a:bodyPr wrap="square">
            <a:spAutoFit/>
          </a:bodyPr>
          <a:lstStyle/>
          <a:p>
            <a:pPr algn="ctr"/>
            <a:r>
              <a:rPr lang="en-US" sz="3200" dirty="0">
                <a:ln w="17780" cmpd="sng">
                  <a:solidFill>
                    <a:schemeClr val="tx1"/>
                  </a:solidFill>
                  <a:prstDash val="solid"/>
                  <a:miter lim="800000"/>
                </a:ln>
                <a:latin typeface="Times New Roman" pitchFamily="18" charset="0"/>
                <a:cs typeface="Times New Roman" pitchFamily="18" charset="0"/>
              </a:rPr>
              <a:t>                   GAYATRI VIDYA PARISHAD</a:t>
            </a:r>
            <a:br>
              <a:rPr lang="en-US" sz="3200" dirty="0">
                <a:ln w="17780" cmpd="sng">
                  <a:solidFill>
                    <a:schemeClr val="tx1"/>
                  </a:solidFill>
                  <a:prstDash val="solid"/>
                  <a:miter lim="800000"/>
                </a:ln>
                <a:latin typeface="Times New Roman" pitchFamily="18" charset="0"/>
                <a:cs typeface="Times New Roman" pitchFamily="18" charset="0"/>
              </a:rPr>
            </a:br>
            <a:r>
              <a:rPr lang="en-US" sz="3200" dirty="0">
                <a:ln w="17780" cmpd="sng">
                  <a:solidFill>
                    <a:schemeClr val="tx1"/>
                  </a:solidFill>
                  <a:prstDash val="solid"/>
                  <a:miter lim="800000"/>
                </a:ln>
                <a:latin typeface="Times New Roman" pitchFamily="18" charset="0"/>
                <a:cs typeface="Times New Roman" pitchFamily="18" charset="0"/>
              </a:rPr>
              <a:t>                        COLLEGE FOR DEGREE AND PG COURSES (A)</a:t>
            </a:r>
            <a:endParaRPr lang="en-IN" sz="3200" dirty="0"/>
          </a:p>
        </p:txBody>
      </p:sp>
      <p:sp>
        <p:nvSpPr>
          <p:cNvPr id="9" name="TextBox 8">
            <a:extLst>
              <a:ext uri="{FF2B5EF4-FFF2-40B4-BE49-F238E27FC236}">
                <a16:creationId xmlns:a16="http://schemas.microsoft.com/office/drawing/2014/main" id="{5FB2A1D0-059E-F6EC-3CFB-08B6F5A6155C}"/>
              </a:ext>
            </a:extLst>
          </p:cNvPr>
          <p:cNvSpPr txBox="1"/>
          <p:nvPr/>
        </p:nvSpPr>
        <p:spPr>
          <a:xfrm>
            <a:off x="584734" y="4620394"/>
            <a:ext cx="4124960" cy="1200329"/>
          </a:xfrm>
          <a:prstGeom prst="rect">
            <a:avLst/>
          </a:prstGeom>
          <a:noFill/>
        </p:spPr>
        <p:txBody>
          <a:bodyPr wrap="square">
            <a:spAutoFit/>
          </a:bodyPr>
          <a:lstStyle/>
          <a:p>
            <a:r>
              <a:rPr lang="en-IN" sz="1800" b="1" dirty="0">
                <a:latin typeface="Times New Roman" panose="02020603050405020304" pitchFamily="18" charset="0"/>
                <a:cs typeface="Times New Roman" panose="02020603050405020304" pitchFamily="18" charset="0"/>
              </a:rPr>
              <a:t>Project Guide:</a:t>
            </a:r>
          </a:p>
          <a:p>
            <a:r>
              <a:rPr lang="en-IN" sz="1800" dirty="0">
                <a:latin typeface="Times New Roman" panose="02020603050405020304" pitchFamily="18" charset="0"/>
                <a:cs typeface="Times New Roman" panose="02020603050405020304" pitchFamily="18" charset="0"/>
              </a:rPr>
              <a:t>Mr.B.DIVAKAR</a:t>
            </a:r>
          </a:p>
          <a:p>
            <a:r>
              <a:rPr lang="en-IN" dirty="0">
                <a:latin typeface="Times New Roman" panose="02020603050405020304" pitchFamily="18" charset="0"/>
                <a:cs typeface="Times New Roman" panose="02020603050405020304" pitchFamily="18" charset="0"/>
              </a:rPr>
              <a:t>Assistant professor</a:t>
            </a:r>
          </a:p>
          <a:p>
            <a:r>
              <a:rPr lang="en-IN" sz="1800" dirty="0">
                <a:latin typeface="Times New Roman" panose="02020603050405020304" pitchFamily="18" charset="0"/>
                <a:cs typeface="Times New Roman" panose="02020603050405020304" pitchFamily="18" charset="0"/>
              </a:rPr>
              <a:t>Department of Computer Applications</a:t>
            </a:r>
          </a:p>
        </p:txBody>
      </p:sp>
      <p:sp>
        <p:nvSpPr>
          <p:cNvPr id="11" name="TextBox 10">
            <a:extLst>
              <a:ext uri="{FF2B5EF4-FFF2-40B4-BE49-F238E27FC236}">
                <a16:creationId xmlns:a16="http://schemas.microsoft.com/office/drawing/2014/main" id="{CFC067D6-71AA-2977-CB39-00A530C29FC8}"/>
              </a:ext>
            </a:extLst>
          </p:cNvPr>
          <p:cNvSpPr txBox="1"/>
          <p:nvPr/>
        </p:nvSpPr>
        <p:spPr>
          <a:xfrm>
            <a:off x="8955506" y="4343395"/>
            <a:ext cx="2651760" cy="1477328"/>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B</a:t>
            </a:r>
            <a:r>
              <a:rPr lang="en-IN" b="1" dirty="0">
                <a:latin typeface="Times New Roman" panose="02020603050405020304" pitchFamily="18" charset="0"/>
                <a:cs typeface="Times New Roman" panose="02020603050405020304" pitchFamily="18" charset="0"/>
              </a:rPr>
              <a:t>y</a:t>
            </a:r>
          </a:p>
          <a:p>
            <a:r>
              <a:rPr lang="en-IN" dirty="0">
                <a:latin typeface="Times New Roman" panose="02020603050405020304" pitchFamily="18" charset="0"/>
                <a:cs typeface="Times New Roman" panose="02020603050405020304" pitchFamily="18" charset="0"/>
              </a:rPr>
              <a:t>D.PRASANTH KUMAR</a:t>
            </a:r>
          </a:p>
          <a:p>
            <a:r>
              <a:rPr lang="en-IN" dirty="0">
                <a:latin typeface="Times New Roman" panose="02020603050405020304" pitchFamily="18" charset="0"/>
                <a:cs typeface="Times New Roman" panose="02020603050405020304" pitchFamily="18" charset="0"/>
              </a:rPr>
              <a:t>PG232406003</a:t>
            </a:r>
          </a:p>
          <a:p>
            <a:r>
              <a:rPr lang="en-IN" dirty="0">
                <a:latin typeface="Times New Roman" panose="02020603050405020304" pitchFamily="18" charset="0"/>
                <a:cs typeface="Times New Roman" panose="02020603050405020304" pitchFamily="18" charset="0"/>
              </a:rPr>
              <a:t>(2023-25)</a:t>
            </a:r>
          </a:p>
          <a:p>
            <a:r>
              <a:rPr lang="en-IN" dirty="0">
                <a:latin typeface="Times New Roman" panose="02020603050405020304" pitchFamily="18" charset="0"/>
                <a:cs typeface="Times New Roman" panose="02020603050405020304" pitchFamily="18" charset="0"/>
              </a:rPr>
              <a:t>SEM-IV</a:t>
            </a:r>
          </a:p>
        </p:txBody>
      </p:sp>
      <p:pic>
        <p:nvPicPr>
          <p:cNvPr id="10" name="Picture 9" descr="A picture containing diagram&#10;&#10;Description automatically generated">
            <a:extLst>
              <a:ext uri="{FF2B5EF4-FFF2-40B4-BE49-F238E27FC236}">
                <a16:creationId xmlns:a16="http://schemas.microsoft.com/office/drawing/2014/main" id="{21C183DD-0C0A-D6B1-E5F8-15D2546591E7}"/>
              </a:ext>
            </a:extLst>
          </p:cNvPr>
          <p:cNvPicPr>
            <a:picLocks noChangeAspect="1"/>
          </p:cNvPicPr>
          <p:nvPr/>
        </p:nvPicPr>
        <p:blipFill>
          <a:blip r:embed="rId2"/>
          <a:stretch>
            <a:fillRect/>
          </a:stretch>
        </p:blipFill>
        <p:spPr>
          <a:xfrm>
            <a:off x="351901" y="649969"/>
            <a:ext cx="1194574" cy="1145005"/>
          </a:xfrm>
          <a:prstGeom prst="ellipse">
            <a:avLst/>
          </a:prstGeom>
        </p:spPr>
      </p:pic>
      <p:pic>
        <p:nvPicPr>
          <p:cNvPr id="13" name="Picture 12">
            <a:extLst>
              <a:ext uri="{FF2B5EF4-FFF2-40B4-BE49-F238E27FC236}">
                <a16:creationId xmlns:a16="http://schemas.microsoft.com/office/drawing/2014/main" id="{D5D645CA-F8CA-0DCC-7643-4893E11E2699}"/>
              </a:ext>
            </a:extLst>
          </p:cNvPr>
          <p:cNvPicPr>
            <a:picLocks noChangeAspect="1"/>
          </p:cNvPicPr>
          <p:nvPr/>
        </p:nvPicPr>
        <p:blipFill>
          <a:blip r:embed="rId3"/>
          <a:stretch>
            <a:fillRect/>
          </a:stretch>
        </p:blipFill>
        <p:spPr>
          <a:xfrm>
            <a:off x="10549833" y="591485"/>
            <a:ext cx="1194574" cy="1203489"/>
          </a:xfrm>
          <a:prstGeom prst="rect">
            <a:avLst/>
          </a:prstGeom>
        </p:spPr>
      </p:pic>
    </p:spTree>
    <p:extLst>
      <p:ext uri="{BB962C8B-B14F-4D97-AF65-F5344CB8AC3E}">
        <p14:creationId xmlns:p14="http://schemas.microsoft.com/office/powerpoint/2010/main" val="735411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D3A5F-8481-0AEC-75E3-824D82EB775E}"/>
              </a:ext>
            </a:extLst>
          </p:cNvPr>
          <p:cNvSpPr>
            <a:spLocks noGrp="1"/>
          </p:cNvSpPr>
          <p:nvPr>
            <p:ph type="title"/>
          </p:nvPr>
        </p:nvSpPr>
        <p:spPr>
          <a:xfrm>
            <a:off x="910937" y="188480"/>
            <a:ext cx="10515600" cy="883572"/>
          </a:xfrm>
        </p:spPr>
        <p:txBody>
          <a:bodyPr/>
          <a:lstStyle/>
          <a:p>
            <a:pPr algn="ctr"/>
            <a:r>
              <a:rPr lang="en-US" b="1" dirty="0">
                <a:latin typeface="Times New Roman" panose="02020603050405020304" pitchFamily="18" charset="0"/>
                <a:cs typeface="Times New Roman" panose="02020603050405020304" pitchFamily="18" charset="0"/>
              </a:rPr>
              <a:t>CONTENTS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9048D14-5AC8-99D8-0224-86D9407608AE}"/>
              </a:ext>
            </a:extLst>
          </p:cNvPr>
          <p:cNvSpPr>
            <a:spLocks noGrp="1"/>
          </p:cNvSpPr>
          <p:nvPr>
            <p:ph idx="1"/>
          </p:nvPr>
        </p:nvSpPr>
        <p:spPr>
          <a:xfrm>
            <a:off x="838200" y="1077938"/>
            <a:ext cx="10515600" cy="4702124"/>
          </a:xfrm>
        </p:spPr>
        <p:txBody>
          <a:bodyPr>
            <a:noAutofit/>
          </a:bodyPr>
          <a:lstStyle/>
          <a:p>
            <a:pP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ABSTRACT</a:t>
            </a:r>
          </a:p>
          <a:p>
            <a:pP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FUNCTIONAL REQUIREMENTS</a:t>
            </a:r>
          </a:p>
          <a:p>
            <a:pP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NON-FUNCTIONAL REQUIREMENTS</a:t>
            </a:r>
          </a:p>
          <a:p>
            <a:pP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UML DIAGRAMS</a:t>
            </a:r>
          </a:p>
          <a:p>
            <a:pPr lvl="1"/>
            <a:r>
              <a:rPr lang="en-US" sz="2800" dirty="0">
                <a:latin typeface="Times New Roman" panose="02020603050405020304" pitchFamily="18" charset="0"/>
                <a:cs typeface="Times New Roman" panose="02020603050405020304" pitchFamily="18" charset="0"/>
              </a:rPr>
              <a:t>USE CASE DIAGRAM</a:t>
            </a:r>
          </a:p>
          <a:p>
            <a:pPr lvl="1"/>
            <a:r>
              <a:rPr lang="en-US" sz="2800" dirty="0">
                <a:latin typeface="Times New Roman" panose="02020603050405020304" pitchFamily="18" charset="0"/>
                <a:cs typeface="Times New Roman" panose="02020603050405020304" pitchFamily="18" charset="0"/>
              </a:rPr>
              <a:t>SEQUENCE DIAGRAM (Farmer/User)</a:t>
            </a:r>
          </a:p>
          <a:p>
            <a:pPr lvl="1"/>
            <a:r>
              <a:rPr lang="en-US" sz="2800" dirty="0">
                <a:latin typeface="Times New Roman" panose="02020603050405020304" pitchFamily="18" charset="0"/>
                <a:cs typeface="Times New Roman" panose="02020603050405020304" pitchFamily="18" charset="0"/>
              </a:rPr>
              <a:t>SEQUENCE DIAGRAM(Researcher)</a:t>
            </a:r>
          </a:p>
          <a:p>
            <a:pPr lvl="1"/>
            <a:r>
              <a:rPr lang="en-US" sz="2800" dirty="0">
                <a:latin typeface="Times New Roman" panose="02020603050405020304" pitchFamily="18" charset="0"/>
                <a:cs typeface="Times New Roman" panose="02020603050405020304" pitchFamily="18" charset="0"/>
              </a:rPr>
              <a:t>ACTIVITY DIAGRAM</a:t>
            </a:r>
          </a:p>
          <a:p>
            <a:pPr>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2785995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9E6E0-1722-AB05-E62E-6858BE34E5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156F62-0546-B1F9-8CCB-92BC5C7999E6}"/>
              </a:ext>
            </a:extLst>
          </p:cNvPr>
          <p:cNvSpPr>
            <a:spLocks noGrp="1"/>
          </p:cNvSpPr>
          <p:nvPr>
            <p:ph type="title"/>
          </p:nvPr>
        </p:nvSpPr>
        <p:spPr>
          <a:xfrm>
            <a:off x="838200" y="39329"/>
            <a:ext cx="10515600" cy="696759"/>
          </a:xfrm>
        </p:spPr>
        <p:txBody>
          <a:bodyPr/>
          <a:lstStyle/>
          <a:p>
            <a:pPr algn="ctr"/>
            <a:r>
              <a:rPr lang="en-IN" b="1"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9099D749-7DEE-CE0E-CE7E-476DD9E6326F}"/>
              </a:ext>
            </a:extLst>
          </p:cNvPr>
          <p:cNvSpPr>
            <a:spLocks noGrp="1"/>
          </p:cNvSpPr>
          <p:nvPr>
            <p:ph idx="1"/>
          </p:nvPr>
        </p:nvSpPr>
        <p:spPr>
          <a:xfrm>
            <a:off x="727922" y="987136"/>
            <a:ext cx="10736155" cy="5237018"/>
          </a:xfrm>
        </p:spPr>
        <p:txBody>
          <a:bodyPr>
            <a:noAutofit/>
          </a:bodyPr>
          <a:lstStyle/>
          <a:p>
            <a:pPr marL="0" indent="0" algn="just">
              <a:buNone/>
            </a:pPr>
            <a:r>
              <a:rPr lang="en-US" sz="2800" b="0" i="0" dirty="0">
                <a:effectLst/>
                <a:latin typeface="Times New Roman" panose="02020603050405020304" pitchFamily="18" charset="0"/>
                <a:cs typeface="Times New Roman" panose="02020603050405020304" pitchFamily="18" charset="0"/>
              </a:rPr>
              <a:t>The Portable Land Parameter Measuring Device integrates machine learning (ML) to enable real-time monitoring of critical soil and environmental parameters (moisture, pH, temperature, EC, ambient temperature, humidity) in remote field conditions. Designed for farmers, researchers, and land managers, it combines capacitive, thermistor, and conductivity sensors controlled by a microcontroller. The lightweight, weatherproof device features a solar-rechargeable battery, OLED/LCD display, and Bluetooth/Wi-Fi connectivity for data transfer. By providing actionable insights through embedded ML algorithms, it supports precision agriculture, optimizes resource use, and enhances sustainable land management. This cost-effective, user-friendly solution bridges the gap between manual field analysis and smart, data-driven decision-making</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91845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05930-AF24-C97E-D0A9-DE4E2AE67D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9163BE-B10F-42A6-CD23-26C45CCA2FE3}"/>
              </a:ext>
            </a:extLst>
          </p:cNvPr>
          <p:cNvSpPr>
            <a:spLocks noGrp="1"/>
          </p:cNvSpPr>
          <p:nvPr>
            <p:ph type="title"/>
          </p:nvPr>
        </p:nvSpPr>
        <p:spPr>
          <a:xfrm>
            <a:off x="838200" y="39329"/>
            <a:ext cx="10515600" cy="696759"/>
          </a:xfrm>
        </p:spPr>
        <p:txBody>
          <a:bodyPr>
            <a:normAutofit/>
          </a:bodyPr>
          <a:lstStyle/>
          <a:p>
            <a:pPr algn="ctr"/>
            <a:r>
              <a:rPr lang="en-IN" sz="3600" b="1" dirty="0">
                <a:latin typeface="Times New Roman" panose="02020603050405020304" pitchFamily="18" charset="0"/>
                <a:cs typeface="Times New Roman" panose="02020603050405020304" pitchFamily="18" charset="0"/>
              </a:rPr>
              <a:t>FUNCTIONAL REQUIREMENTS</a:t>
            </a:r>
          </a:p>
        </p:txBody>
      </p:sp>
      <p:sp>
        <p:nvSpPr>
          <p:cNvPr id="3" name="Content Placeholder 2">
            <a:extLst>
              <a:ext uri="{FF2B5EF4-FFF2-40B4-BE49-F238E27FC236}">
                <a16:creationId xmlns:a16="http://schemas.microsoft.com/office/drawing/2014/main" id="{3B95DB0A-9D67-8D79-776F-9F6E007F0A2F}"/>
              </a:ext>
            </a:extLst>
          </p:cNvPr>
          <p:cNvSpPr>
            <a:spLocks noGrp="1"/>
          </p:cNvSpPr>
          <p:nvPr>
            <p:ph idx="1"/>
          </p:nvPr>
        </p:nvSpPr>
        <p:spPr>
          <a:xfrm>
            <a:off x="434826" y="839997"/>
            <a:ext cx="11322348" cy="5787737"/>
          </a:xfrm>
        </p:spPr>
        <p:txBody>
          <a:bodyPr>
            <a:noAutofit/>
          </a:bodyPr>
          <a:lstStyle/>
          <a:p>
            <a:pPr marL="0" indent="0">
              <a:buNone/>
            </a:pPr>
            <a:r>
              <a:rPr lang="en-IN" sz="2800" u="sng" dirty="0">
                <a:latin typeface="Times New Roman" panose="02020603050405020304" pitchFamily="18" charset="0"/>
                <a:cs typeface="Times New Roman" panose="02020603050405020304" pitchFamily="18" charset="0"/>
              </a:rPr>
              <a:t>Inputs and Outputs</a:t>
            </a:r>
          </a:p>
          <a:p>
            <a:pPr marL="0" indent="0">
              <a:buNone/>
            </a:pPr>
            <a:r>
              <a:rPr lang="en-IN" sz="2800" u="sng" dirty="0">
                <a:latin typeface="Times New Roman" panose="02020603050405020304" pitchFamily="18" charset="0"/>
                <a:cs typeface="Times New Roman" panose="02020603050405020304" pitchFamily="18" charset="0"/>
              </a:rPr>
              <a:t>Input:</a:t>
            </a:r>
          </a:p>
          <a:p>
            <a:pPr>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The system receives real-time sensor data from:</a:t>
            </a:r>
          </a:p>
          <a:p>
            <a:r>
              <a:rPr lang="en-IN" sz="2800" dirty="0">
                <a:latin typeface="Times New Roman" panose="02020603050405020304" pitchFamily="18" charset="0"/>
                <a:cs typeface="Times New Roman" panose="02020603050405020304" pitchFamily="18" charset="0"/>
              </a:rPr>
              <a:t>Soil Moisture Sensor (measures water content in soil)</a:t>
            </a:r>
          </a:p>
          <a:p>
            <a:r>
              <a:rPr lang="en-IN" sz="2800" dirty="0">
                <a:latin typeface="Times New Roman" panose="02020603050405020304" pitchFamily="18" charset="0"/>
                <a:cs typeface="Times New Roman" panose="02020603050405020304" pitchFamily="18" charset="0"/>
              </a:rPr>
              <a:t>Soil pH Sensor (indicates soil acidity/alkalinity)</a:t>
            </a:r>
          </a:p>
          <a:p>
            <a:r>
              <a:rPr lang="en-IN" sz="2800" dirty="0">
                <a:latin typeface="Times New Roman" panose="02020603050405020304" pitchFamily="18" charset="0"/>
                <a:cs typeface="Times New Roman" panose="02020603050405020304" pitchFamily="18" charset="0"/>
              </a:rPr>
              <a:t>Soil Temperature Sensor</a:t>
            </a:r>
          </a:p>
          <a:p>
            <a:r>
              <a:rPr lang="en-IN" sz="2800" dirty="0">
                <a:latin typeface="Times New Roman" panose="02020603050405020304" pitchFamily="18" charset="0"/>
                <a:cs typeface="Times New Roman" panose="02020603050405020304" pitchFamily="18" charset="0"/>
              </a:rPr>
              <a:t>Electrical Conductivity (EC) Sensor (detects salinity/nutrient level)</a:t>
            </a:r>
          </a:p>
          <a:p>
            <a:r>
              <a:rPr lang="en-IN" sz="2800" dirty="0">
                <a:latin typeface="Times New Roman" panose="02020603050405020304" pitchFamily="18" charset="0"/>
                <a:cs typeface="Times New Roman" panose="02020603050405020304" pitchFamily="18" charset="0"/>
              </a:rPr>
              <a:t>Ambient Humidity &amp; Temperature Sensor</a:t>
            </a:r>
          </a:p>
          <a:p>
            <a:pPr>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User input to start the device or initiate data calibration.</a:t>
            </a:r>
          </a:p>
          <a:p>
            <a:pPr>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Wireless commands for remote monitoring via Bluetooth/Wi-Fi.</a:t>
            </a:r>
          </a:p>
        </p:txBody>
      </p:sp>
    </p:spTree>
    <p:extLst>
      <p:ext uri="{BB962C8B-B14F-4D97-AF65-F5344CB8AC3E}">
        <p14:creationId xmlns:p14="http://schemas.microsoft.com/office/powerpoint/2010/main" val="4783103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CBA54-C2E0-D89D-3435-2988BA00256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344B0C-17E4-5448-1EE3-0A4D1B5D862A}"/>
              </a:ext>
            </a:extLst>
          </p:cNvPr>
          <p:cNvSpPr>
            <a:spLocks noGrp="1"/>
          </p:cNvSpPr>
          <p:nvPr>
            <p:ph idx="1"/>
          </p:nvPr>
        </p:nvSpPr>
        <p:spPr>
          <a:xfrm>
            <a:off x="363683" y="280555"/>
            <a:ext cx="11401732" cy="6317672"/>
          </a:xfrm>
        </p:spPr>
        <p:txBody>
          <a:bodyPr>
            <a:noAutofit/>
          </a:bodyPr>
          <a:lstStyle/>
          <a:p>
            <a:pPr marL="0" indent="0">
              <a:buNone/>
            </a:pPr>
            <a:r>
              <a:rPr lang="en-IN" sz="3200" u="sng" dirty="0">
                <a:latin typeface="Times New Roman" panose="02020603050405020304" pitchFamily="18" charset="0"/>
                <a:cs typeface="Times New Roman" panose="02020603050405020304" pitchFamily="18" charset="0"/>
              </a:rPr>
              <a:t>Process:</a:t>
            </a:r>
          </a:p>
          <a:p>
            <a:r>
              <a:rPr lang="en-IN" sz="3200" dirty="0">
                <a:latin typeface="Times New Roman" panose="02020603050405020304" pitchFamily="18" charset="0"/>
                <a:cs typeface="Times New Roman" panose="02020603050405020304" pitchFamily="18" charset="0"/>
              </a:rPr>
              <a:t>The ESP32 microcontroller initializes and calibrates all sensors.</a:t>
            </a:r>
          </a:p>
          <a:p>
            <a:r>
              <a:rPr lang="en-IN" sz="3200" dirty="0">
                <a:latin typeface="Times New Roman" panose="02020603050405020304" pitchFamily="18" charset="0"/>
                <a:cs typeface="Times New Roman" panose="02020603050405020304" pitchFamily="18" charset="0"/>
              </a:rPr>
              <a:t>The device collects and processes soil and environmental data.</a:t>
            </a:r>
          </a:p>
          <a:p>
            <a:r>
              <a:rPr lang="en-IN" sz="3200" dirty="0">
                <a:latin typeface="Times New Roman" panose="02020603050405020304" pitchFamily="18" charset="0"/>
                <a:cs typeface="Times New Roman" panose="02020603050405020304" pitchFamily="18" charset="0"/>
              </a:rPr>
              <a:t>Data is digitized, </a:t>
            </a:r>
            <a:r>
              <a:rPr lang="en-IN" sz="3200" dirty="0" err="1">
                <a:latin typeface="Times New Roman" panose="02020603050405020304" pitchFamily="18" charset="0"/>
                <a:cs typeface="Times New Roman" panose="02020603050405020304" pitchFamily="18" charset="0"/>
              </a:rPr>
              <a:t>analyzed</a:t>
            </a:r>
            <a:r>
              <a:rPr lang="en-IN" sz="3200" dirty="0">
                <a:latin typeface="Times New Roman" panose="02020603050405020304" pitchFamily="18" charset="0"/>
                <a:cs typeface="Times New Roman" panose="02020603050405020304" pitchFamily="18" charset="0"/>
              </a:rPr>
              <a:t>, and converted into readable units.</a:t>
            </a:r>
          </a:p>
          <a:p>
            <a:r>
              <a:rPr lang="en-IN" sz="3200" dirty="0">
                <a:latin typeface="Times New Roman" panose="02020603050405020304" pitchFamily="18" charset="0"/>
                <a:cs typeface="Times New Roman" panose="02020603050405020304" pitchFamily="18" charset="0"/>
              </a:rPr>
              <a:t>Optional ML models predict crop yield or identify risks.</a:t>
            </a:r>
          </a:p>
          <a:p>
            <a:r>
              <a:rPr lang="en-IN" sz="3200" dirty="0">
                <a:latin typeface="Times New Roman" panose="02020603050405020304" pitchFamily="18" charset="0"/>
                <a:cs typeface="Times New Roman" panose="02020603050405020304" pitchFamily="18" charset="0"/>
              </a:rPr>
              <a:t>The system manages power usage through sleep/wake cycles for efficiency.</a:t>
            </a:r>
          </a:p>
          <a:p>
            <a:pPr marL="0" indent="0">
              <a:buNone/>
            </a:pPr>
            <a:r>
              <a:rPr lang="en-IN" sz="3200" u="sng" dirty="0">
                <a:latin typeface="Times New Roman" panose="02020603050405020304" pitchFamily="18" charset="0"/>
                <a:cs typeface="Times New Roman" panose="02020603050405020304" pitchFamily="18" charset="0"/>
              </a:rPr>
              <a:t>Output:</a:t>
            </a:r>
          </a:p>
          <a:p>
            <a:r>
              <a:rPr lang="en-US" sz="3200" dirty="0">
                <a:latin typeface="Times New Roman" panose="02020603050405020304" pitchFamily="18" charset="0"/>
                <a:cs typeface="Times New Roman" panose="02020603050405020304" pitchFamily="18" charset="0"/>
              </a:rPr>
              <a:t>Real-time sensor readings displayed on the LCD screen (Display).</a:t>
            </a:r>
          </a:p>
          <a:p>
            <a:r>
              <a:rPr lang="en-US" sz="3200" dirty="0">
                <a:latin typeface="Times New Roman" panose="02020603050405020304" pitchFamily="18" charset="0"/>
                <a:cs typeface="Times New Roman" panose="02020603050405020304" pitchFamily="18" charset="0"/>
              </a:rPr>
              <a:t>Data is transmitted via Bluetooth/Wi-Fi to mobile or cloud interfaces.</a:t>
            </a:r>
          </a:p>
          <a:p>
            <a:r>
              <a:rPr lang="en-US" sz="3200" dirty="0">
                <a:latin typeface="Times New Roman" panose="02020603050405020304" pitchFamily="18" charset="0"/>
                <a:cs typeface="Times New Roman" panose="02020603050405020304" pitchFamily="18" charset="0"/>
              </a:rPr>
              <a:t>Visual or app-based alerts if soil values exceed predefined thresholds.</a:t>
            </a:r>
          </a:p>
        </p:txBody>
      </p:sp>
    </p:spTree>
    <p:extLst>
      <p:ext uri="{BB962C8B-B14F-4D97-AF65-F5344CB8AC3E}">
        <p14:creationId xmlns:p14="http://schemas.microsoft.com/office/powerpoint/2010/main" val="40117699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FD30B-99F7-CCE5-4FEA-60BF3EB9404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6F0FD2-6453-7319-CB48-006F8D5B4A14}"/>
              </a:ext>
            </a:extLst>
          </p:cNvPr>
          <p:cNvSpPr>
            <a:spLocks noGrp="1"/>
          </p:cNvSpPr>
          <p:nvPr>
            <p:ph idx="1"/>
          </p:nvPr>
        </p:nvSpPr>
        <p:spPr>
          <a:xfrm>
            <a:off x="308543" y="324490"/>
            <a:ext cx="11574914" cy="6209020"/>
          </a:xfrm>
        </p:spPr>
        <p:txBody>
          <a:bodyPr>
            <a:noAutofit/>
          </a:bodyPr>
          <a:lstStyle/>
          <a:p>
            <a:r>
              <a:rPr lang="en-US" sz="3200" dirty="0">
                <a:latin typeface="Times New Roman" panose="02020603050405020304" pitchFamily="18" charset="0"/>
                <a:cs typeface="Times New Roman" panose="02020603050405020304" pitchFamily="18" charset="0"/>
              </a:rPr>
              <a:t>Stored sensor data can be retrieved or exported for long-term analysis.</a:t>
            </a:r>
          </a:p>
          <a:p>
            <a:r>
              <a:rPr lang="en-US" sz="3200" dirty="0">
                <a:latin typeface="Times New Roman" panose="02020603050405020304" pitchFamily="18" charset="0"/>
                <a:cs typeface="Times New Roman" panose="02020603050405020304" pitchFamily="18" charset="0"/>
              </a:rPr>
              <a:t>Insightful recommendations for irrigation and soil management based on ML output.</a:t>
            </a:r>
          </a:p>
        </p:txBody>
      </p:sp>
    </p:spTree>
    <p:extLst>
      <p:ext uri="{BB962C8B-B14F-4D97-AF65-F5344CB8AC3E}">
        <p14:creationId xmlns:p14="http://schemas.microsoft.com/office/powerpoint/2010/main" val="22753073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985DF-B31F-0A60-2247-BA716E54A2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DF509C-4B48-1CE4-003B-47DC657B072E}"/>
              </a:ext>
            </a:extLst>
          </p:cNvPr>
          <p:cNvSpPr>
            <a:spLocks noGrp="1"/>
          </p:cNvSpPr>
          <p:nvPr>
            <p:ph type="title"/>
          </p:nvPr>
        </p:nvSpPr>
        <p:spPr>
          <a:xfrm>
            <a:off x="838200" y="39329"/>
            <a:ext cx="10515600" cy="696759"/>
          </a:xfrm>
        </p:spPr>
        <p:txBody>
          <a:bodyPr>
            <a:normAutofit/>
          </a:bodyPr>
          <a:lstStyle/>
          <a:p>
            <a:pPr algn="ctr"/>
            <a:r>
              <a:rPr lang="en-IN" sz="3600" b="1" dirty="0">
                <a:latin typeface="Times New Roman" panose="02020603050405020304" pitchFamily="18" charset="0"/>
                <a:cs typeface="Times New Roman" panose="02020603050405020304" pitchFamily="18" charset="0"/>
              </a:rPr>
              <a:t>NON-FUNCTIONAL REQUIREMENTS</a:t>
            </a:r>
          </a:p>
        </p:txBody>
      </p:sp>
      <p:sp>
        <p:nvSpPr>
          <p:cNvPr id="3" name="Content Placeholder 2">
            <a:extLst>
              <a:ext uri="{FF2B5EF4-FFF2-40B4-BE49-F238E27FC236}">
                <a16:creationId xmlns:a16="http://schemas.microsoft.com/office/drawing/2014/main" id="{27ED0A6B-07E6-E790-75F2-7E2BBE935ED2}"/>
              </a:ext>
            </a:extLst>
          </p:cNvPr>
          <p:cNvSpPr>
            <a:spLocks noGrp="1"/>
          </p:cNvSpPr>
          <p:nvPr>
            <p:ph idx="1"/>
          </p:nvPr>
        </p:nvSpPr>
        <p:spPr>
          <a:xfrm>
            <a:off x="357314" y="652960"/>
            <a:ext cx="11477372" cy="6069195"/>
          </a:xfrm>
        </p:spPr>
        <p:txBody>
          <a:bodyPr>
            <a:noAutofit/>
          </a:bodyPr>
          <a:lstStyle/>
          <a:p>
            <a:pPr>
              <a:buNone/>
            </a:pPr>
            <a:endParaRPr lang="en-US" sz="2400" dirty="0">
              <a:latin typeface="Times New Roman" panose="02020603050405020304" pitchFamily="18" charset="0"/>
              <a:cs typeface="Times New Roman" panose="02020603050405020304" pitchFamily="18" charset="0"/>
            </a:endParaRPr>
          </a:p>
          <a:p>
            <a:pPr>
              <a:buNone/>
            </a:pPr>
            <a:r>
              <a:rPr lang="en-US" sz="2400" u="sng" dirty="0">
                <a:latin typeface="Times New Roman" panose="02020603050405020304" pitchFamily="18" charset="0"/>
                <a:cs typeface="Times New Roman" panose="02020603050405020304" pitchFamily="18" charset="0"/>
              </a:rPr>
              <a:t>Software Requirements:</a:t>
            </a:r>
          </a:p>
          <a:p>
            <a:r>
              <a:rPr lang="en-US" sz="2400" dirty="0">
                <a:latin typeface="Times New Roman" panose="02020603050405020304" pitchFamily="18" charset="0"/>
                <a:cs typeface="Times New Roman" panose="02020603050405020304" pitchFamily="18" charset="0"/>
              </a:rPr>
              <a:t>Arduino IDE</a:t>
            </a:r>
          </a:p>
          <a:p>
            <a:r>
              <a:rPr lang="en-US" sz="2400" dirty="0">
                <a:latin typeface="Times New Roman" panose="02020603050405020304" pitchFamily="18" charset="0"/>
                <a:cs typeface="Times New Roman" panose="02020603050405020304" pitchFamily="18" charset="0"/>
              </a:rPr>
              <a:t>Python for Machine Learning</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u="sng" dirty="0">
                <a:latin typeface="Times New Roman" panose="02020603050405020304" pitchFamily="18" charset="0"/>
                <a:cs typeface="Times New Roman" panose="02020603050405020304" pitchFamily="18" charset="0"/>
              </a:rPr>
              <a:t>Hardware Requirements:</a:t>
            </a:r>
          </a:p>
          <a:p>
            <a:r>
              <a:rPr lang="en-US" sz="2400" dirty="0">
                <a:latin typeface="Times New Roman" panose="02020603050405020304" pitchFamily="18" charset="0"/>
                <a:cs typeface="Times New Roman" panose="02020603050405020304" pitchFamily="18" charset="0"/>
              </a:rPr>
              <a:t>Processor : ESP32</a:t>
            </a:r>
          </a:p>
          <a:p>
            <a:r>
              <a:rPr lang="en-US" sz="2400" dirty="0">
                <a:latin typeface="Times New Roman" panose="02020603050405020304" pitchFamily="18" charset="0"/>
                <a:cs typeface="Times New Roman" panose="02020603050405020304" pitchFamily="18" charset="0"/>
              </a:rPr>
              <a:t>RAM : ~320KB SRAM</a:t>
            </a:r>
          </a:p>
          <a:p>
            <a:r>
              <a:rPr lang="en-US" sz="2400" dirty="0">
                <a:latin typeface="Times New Roman" panose="02020603050405020304" pitchFamily="18" charset="0"/>
                <a:cs typeface="Times New Roman" panose="02020603050405020304" pitchFamily="18" charset="0"/>
              </a:rPr>
              <a:t>Storage: Flash Storage – 4 MB</a:t>
            </a:r>
          </a:p>
        </p:txBody>
      </p:sp>
    </p:spTree>
    <p:extLst>
      <p:ext uri="{BB962C8B-B14F-4D97-AF65-F5344CB8AC3E}">
        <p14:creationId xmlns:p14="http://schemas.microsoft.com/office/powerpoint/2010/main" val="30440963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9AB1A-C474-76D9-31CC-841EB3A831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99EF97-3869-3637-7901-15F0B7EF080F}"/>
              </a:ext>
            </a:extLst>
          </p:cNvPr>
          <p:cNvSpPr>
            <a:spLocks noGrp="1"/>
          </p:cNvSpPr>
          <p:nvPr>
            <p:ph type="title"/>
          </p:nvPr>
        </p:nvSpPr>
        <p:spPr>
          <a:xfrm>
            <a:off x="838200" y="39329"/>
            <a:ext cx="10515600" cy="696759"/>
          </a:xfrm>
        </p:spPr>
        <p:txBody>
          <a:bodyPr>
            <a:normAutofit/>
          </a:bodyPr>
          <a:lstStyle/>
          <a:p>
            <a:pPr algn="ctr"/>
            <a:r>
              <a:rPr lang="en-IN" sz="3600" b="1" dirty="0">
                <a:latin typeface="Times New Roman" panose="02020603050405020304" pitchFamily="18" charset="0"/>
                <a:cs typeface="Times New Roman" panose="02020603050405020304" pitchFamily="18" charset="0"/>
              </a:rPr>
              <a:t>NON-FUNCTIONAL REQUIREMENTS</a:t>
            </a:r>
          </a:p>
        </p:txBody>
      </p:sp>
      <p:sp>
        <p:nvSpPr>
          <p:cNvPr id="3" name="Content Placeholder 2">
            <a:extLst>
              <a:ext uri="{FF2B5EF4-FFF2-40B4-BE49-F238E27FC236}">
                <a16:creationId xmlns:a16="http://schemas.microsoft.com/office/drawing/2014/main" id="{C38836FB-8294-6762-F5E1-660C0F6FE017}"/>
              </a:ext>
            </a:extLst>
          </p:cNvPr>
          <p:cNvSpPr>
            <a:spLocks noGrp="1"/>
          </p:cNvSpPr>
          <p:nvPr>
            <p:ph idx="1"/>
          </p:nvPr>
        </p:nvSpPr>
        <p:spPr>
          <a:xfrm>
            <a:off x="357314" y="652960"/>
            <a:ext cx="11477372" cy="6069195"/>
          </a:xfrm>
        </p:spPr>
        <p:txBody>
          <a:bodyPr>
            <a:noAutofit/>
          </a:bodyPr>
          <a:lstStyle/>
          <a:p>
            <a:pPr>
              <a:buNone/>
            </a:pPr>
            <a:r>
              <a:rPr lang="en-US" sz="2400" b="1" dirty="0">
                <a:latin typeface="Times New Roman" panose="02020603050405020304" pitchFamily="18" charset="0"/>
                <a:cs typeface="Times New Roman" panose="02020603050405020304" pitchFamily="18" charset="0"/>
              </a:rPr>
              <a:t>Performance Requirements</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device must collect and process sensor data within 2–3 seconds of activation.</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should support real-time display of soil parameters with minimal delay.</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Wireless communication (Bluetooth/Wi-Fi) must transmit data reliably within a 10–15 meter range.</a:t>
            </a:r>
          </a:p>
          <a:p>
            <a:pPr>
              <a:buNone/>
            </a:pPr>
            <a:r>
              <a:rPr lang="en-US" sz="2400" b="1" dirty="0">
                <a:latin typeface="Times New Roman" panose="02020603050405020304" pitchFamily="18" charset="0"/>
                <a:cs typeface="Times New Roman" panose="02020603050405020304" pitchFamily="18" charset="0"/>
              </a:rPr>
              <a:t>Reliability Requirements</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system should maintain stable performance under varying environmental conditions.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Sensors and microcontroller must operate continuously for at least 8 hours on full charge.</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device should recover gracefully from minor system faults or sensor disconnects.</a:t>
            </a:r>
          </a:p>
          <a:p>
            <a:pPr>
              <a:buNone/>
            </a:pPr>
            <a:r>
              <a:rPr lang="en-US" sz="2400" b="1" dirty="0">
                <a:latin typeface="Times New Roman" panose="02020603050405020304" pitchFamily="18" charset="0"/>
                <a:cs typeface="Times New Roman" panose="02020603050405020304" pitchFamily="18" charset="0"/>
              </a:rPr>
              <a:t>Usability Requirements</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interface (display and/or app) must be simple, intuitive, and readable for non-technical users (e.g., farmers).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Setup time (including calibration) should not exceed 2 minutes.</a:t>
            </a:r>
          </a:p>
        </p:txBody>
      </p:sp>
    </p:spTree>
    <p:extLst>
      <p:ext uri="{BB962C8B-B14F-4D97-AF65-F5344CB8AC3E}">
        <p14:creationId xmlns:p14="http://schemas.microsoft.com/office/powerpoint/2010/main" val="28916556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F6A2E-67BC-0535-ADEA-BB77B6ADDA5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CF2595-8CAD-A296-AB47-906B0DAC6D2A}"/>
              </a:ext>
            </a:extLst>
          </p:cNvPr>
          <p:cNvSpPr>
            <a:spLocks noGrp="1"/>
          </p:cNvSpPr>
          <p:nvPr>
            <p:ph idx="1"/>
          </p:nvPr>
        </p:nvSpPr>
        <p:spPr>
          <a:xfrm>
            <a:off x="279381" y="160607"/>
            <a:ext cx="11633237" cy="6536785"/>
          </a:xfrm>
        </p:spPr>
        <p:txBody>
          <a:bodyPr>
            <a:noAutofit/>
          </a:bodyPr>
          <a:lstStyle/>
          <a:p>
            <a:pPr>
              <a:buNone/>
            </a:pPr>
            <a:r>
              <a:rPr lang="en-US" sz="2400" b="1" dirty="0">
                <a:latin typeface="Times New Roman" panose="02020603050405020304" pitchFamily="18" charset="0"/>
                <a:cs typeface="Times New Roman" panose="02020603050405020304" pitchFamily="18" charset="0"/>
              </a:rPr>
              <a:t>Portability Requirements</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system should be lightweight, compact, and weather-resistant, allowing easy field transport.</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must function effectively in outdoor conditions (sunlight, dust, mild rain).</a:t>
            </a:r>
          </a:p>
          <a:p>
            <a:pPr>
              <a:buNone/>
            </a:pPr>
            <a:r>
              <a:rPr lang="en-US" sz="2400" b="1" dirty="0">
                <a:latin typeface="Times New Roman" panose="02020603050405020304" pitchFamily="18" charset="0"/>
                <a:cs typeface="Times New Roman" panose="02020603050405020304" pitchFamily="18" charset="0"/>
              </a:rPr>
              <a:t>Maintainability Requirements</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device must allow easy replacement of sensors or battery if needed.</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Modular design preferred to facilitate repairs and upgrades.</a:t>
            </a:r>
          </a:p>
          <a:p>
            <a:pPr>
              <a:buNone/>
            </a:pPr>
            <a:r>
              <a:rPr lang="en-US" sz="2400" b="1" dirty="0">
                <a:latin typeface="Times New Roman" panose="02020603050405020304" pitchFamily="18" charset="0"/>
                <a:cs typeface="Times New Roman" panose="02020603050405020304" pitchFamily="18" charset="0"/>
              </a:rPr>
              <a:t>Scalability Requirements</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system should allow integration with additional sensors or cloud platforms in the future.</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Must support multiple device deployment in larger field areas if needed.</a:t>
            </a:r>
          </a:p>
        </p:txBody>
      </p:sp>
    </p:spTree>
    <p:extLst>
      <p:ext uri="{BB962C8B-B14F-4D97-AF65-F5344CB8AC3E}">
        <p14:creationId xmlns:p14="http://schemas.microsoft.com/office/powerpoint/2010/main" val="364879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87677-00B8-20F4-9CE7-99F9ED2F75CE}"/>
              </a:ext>
            </a:extLst>
          </p:cNvPr>
          <p:cNvSpPr>
            <a:spLocks noGrp="1"/>
          </p:cNvSpPr>
          <p:nvPr>
            <p:ph type="title"/>
          </p:nvPr>
        </p:nvSpPr>
        <p:spPr>
          <a:xfrm>
            <a:off x="120445" y="0"/>
            <a:ext cx="10515600" cy="737419"/>
          </a:xfrm>
        </p:spPr>
        <p:txBody>
          <a:bodyPr/>
          <a:lstStyle/>
          <a:p>
            <a:r>
              <a:rPr lang="en-US" b="1" dirty="0">
                <a:latin typeface="Times New Roman" panose="02020603050405020304" pitchFamily="18" charset="0"/>
                <a:cs typeface="Times New Roman" panose="02020603050405020304" pitchFamily="18" charset="0"/>
              </a:rPr>
              <a:t>UML DIAGRAMS</a:t>
            </a:r>
            <a:endParaRPr lang="en-IN" b="1" dirty="0">
              <a:latin typeface="Times New Roman" panose="02020603050405020304" pitchFamily="18" charset="0"/>
              <a:cs typeface="Times New Roman" panose="02020603050405020304" pitchFamily="18" charset="0"/>
            </a:endParaRPr>
          </a:p>
        </p:txBody>
      </p:sp>
      <p:sp>
        <p:nvSpPr>
          <p:cNvPr id="11" name="Diamond 10">
            <a:extLst>
              <a:ext uri="{FF2B5EF4-FFF2-40B4-BE49-F238E27FC236}">
                <a16:creationId xmlns:a16="http://schemas.microsoft.com/office/drawing/2014/main" id="{2407FDD3-DAF0-C7FD-CD80-285B20463ECF}"/>
              </a:ext>
            </a:extLst>
          </p:cNvPr>
          <p:cNvSpPr/>
          <p:nvPr/>
        </p:nvSpPr>
        <p:spPr>
          <a:xfrm>
            <a:off x="4562162" y="498762"/>
            <a:ext cx="2320413" cy="1962541"/>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Use Case Diagram</a:t>
            </a:r>
          </a:p>
        </p:txBody>
      </p:sp>
      <p:sp>
        <p:nvSpPr>
          <p:cNvPr id="12" name="Diamond 11">
            <a:extLst>
              <a:ext uri="{FF2B5EF4-FFF2-40B4-BE49-F238E27FC236}">
                <a16:creationId xmlns:a16="http://schemas.microsoft.com/office/drawing/2014/main" id="{853E9B61-E07D-16E4-6F39-5F2660F2D235}"/>
              </a:ext>
            </a:extLst>
          </p:cNvPr>
          <p:cNvSpPr/>
          <p:nvPr/>
        </p:nvSpPr>
        <p:spPr>
          <a:xfrm>
            <a:off x="2465434" y="2612923"/>
            <a:ext cx="2320413" cy="2123768"/>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Sequence Diagram (User)</a:t>
            </a:r>
            <a:endParaRPr lang="en-IN" sz="1400" dirty="0"/>
          </a:p>
        </p:txBody>
      </p:sp>
      <p:sp>
        <p:nvSpPr>
          <p:cNvPr id="13" name="Diamond 12">
            <a:extLst>
              <a:ext uri="{FF2B5EF4-FFF2-40B4-BE49-F238E27FC236}">
                <a16:creationId xmlns:a16="http://schemas.microsoft.com/office/drawing/2014/main" id="{123D2068-91D8-54FC-2354-CDC5CB43DC9B}"/>
              </a:ext>
            </a:extLst>
          </p:cNvPr>
          <p:cNvSpPr/>
          <p:nvPr/>
        </p:nvSpPr>
        <p:spPr>
          <a:xfrm>
            <a:off x="6680456" y="2612923"/>
            <a:ext cx="2625218" cy="2123768"/>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Sequence Diagram (Researcher)</a:t>
            </a:r>
            <a:endParaRPr lang="en-IN" sz="1400" dirty="0"/>
          </a:p>
        </p:txBody>
      </p:sp>
      <p:sp>
        <p:nvSpPr>
          <p:cNvPr id="15" name="Diamond 14">
            <a:extLst>
              <a:ext uri="{FF2B5EF4-FFF2-40B4-BE49-F238E27FC236}">
                <a16:creationId xmlns:a16="http://schemas.microsoft.com/office/drawing/2014/main" id="{D62E3CC8-01FB-749F-E794-54B4E19181D5}"/>
              </a:ext>
            </a:extLst>
          </p:cNvPr>
          <p:cNvSpPr/>
          <p:nvPr/>
        </p:nvSpPr>
        <p:spPr>
          <a:xfrm>
            <a:off x="4562162" y="4965290"/>
            <a:ext cx="2261418" cy="1892710"/>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Activity Diagram</a:t>
            </a:r>
            <a:endParaRPr lang="en-IN" sz="1600" dirty="0"/>
          </a:p>
        </p:txBody>
      </p:sp>
    </p:spTree>
    <p:extLst>
      <p:ext uri="{BB962C8B-B14F-4D97-AF65-F5344CB8AC3E}">
        <p14:creationId xmlns:p14="http://schemas.microsoft.com/office/powerpoint/2010/main" val="6976230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01DBB95-94EE-D5E9-1EC4-8FDCD40498FB}"/>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793" r="21420" b="4726"/>
          <a:stretch/>
        </p:blipFill>
        <p:spPr>
          <a:xfrm>
            <a:off x="314632" y="812018"/>
            <a:ext cx="11562736" cy="5918162"/>
          </a:xfrm>
        </p:spPr>
      </p:pic>
      <p:sp>
        <p:nvSpPr>
          <p:cNvPr id="6" name="TextBox 5">
            <a:extLst>
              <a:ext uri="{FF2B5EF4-FFF2-40B4-BE49-F238E27FC236}">
                <a16:creationId xmlns:a16="http://schemas.microsoft.com/office/drawing/2014/main" id="{7BD07F2C-F88F-3398-62CA-9F10DE460CC6}"/>
              </a:ext>
            </a:extLst>
          </p:cNvPr>
          <p:cNvSpPr txBox="1"/>
          <p:nvPr/>
        </p:nvSpPr>
        <p:spPr>
          <a:xfrm>
            <a:off x="3932903" y="127820"/>
            <a:ext cx="3913239"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Use Case Diagram</a:t>
            </a: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27899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DDA16-85DD-000F-CF38-CC1D1D52697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D9D8354-A2C6-85D3-BE0D-B274EAF8220D}"/>
              </a:ext>
            </a:extLst>
          </p:cNvPr>
          <p:cNvSpPr txBox="1"/>
          <p:nvPr/>
        </p:nvSpPr>
        <p:spPr>
          <a:xfrm>
            <a:off x="3303638" y="88491"/>
            <a:ext cx="5584723"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Sequence Diagram (Farmer)</a:t>
            </a:r>
            <a:endParaRPr lang="en-IN" sz="32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B633AD1-D7D2-D85A-9996-8A977374C1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6518" y="1350818"/>
            <a:ext cx="9559637" cy="4998027"/>
          </a:xfrm>
          <a:prstGeom prst="rect">
            <a:avLst/>
          </a:prstGeom>
        </p:spPr>
      </p:pic>
    </p:spTree>
    <p:extLst>
      <p:ext uri="{BB962C8B-B14F-4D97-AF65-F5344CB8AC3E}">
        <p14:creationId xmlns:p14="http://schemas.microsoft.com/office/powerpoint/2010/main" val="26043680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2D909-A636-600B-B53C-0F56EE4C78D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F37B574-AEA8-D04D-9491-ACEC61D8F615}"/>
              </a:ext>
            </a:extLst>
          </p:cNvPr>
          <p:cNvSpPr txBox="1"/>
          <p:nvPr/>
        </p:nvSpPr>
        <p:spPr>
          <a:xfrm>
            <a:off x="3106993" y="88491"/>
            <a:ext cx="5978014"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Sequence Diagram (Researcher)</a:t>
            </a:r>
            <a:endParaRPr lang="en-IN" sz="3200"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55D6EBB-E407-772B-854B-E0D69D6379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8473" y="1620982"/>
            <a:ext cx="9310254" cy="4540827"/>
          </a:xfrm>
          <a:prstGeom prst="rect">
            <a:avLst/>
          </a:prstGeom>
        </p:spPr>
      </p:pic>
    </p:spTree>
    <p:extLst>
      <p:ext uri="{BB962C8B-B14F-4D97-AF65-F5344CB8AC3E}">
        <p14:creationId xmlns:p14="http://schemas.microsoft.com/office/powerpoint/2010/main" val="5458281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714AF-9BB9-ABF9-BEE4-22F184ADE85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0D47963-7229-1C0D-1C96-58E5B2B28417}"/>
              </a:ext>
            </a:extLst>
          </p:cNvPr>
          <p:cNvSpPr txBox="1"/>
          <p:nvPr/>
        </p:nvSpPr>
        <p:spPr>
          <a:xfrm>
            <a:off x="2163095" y="53833"/>
            <a:ext cx="7718323"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Activity Diagram</a:t>
            </a:r>
          </a:p>
        </p:txBody>
      </p:sp>
      <p:pic>
        <p:nvPicPr>
          <p:cNvPr id="3" name="Picture 2">
            <a:extLst>
              <a:ext uri="{FF2B5EF4-FFF2-40B4-BE49-F238E27FC236}">
                <a16:creationId xmlns:a16="http://schemas.microsoft.com/office/drawing/2014/main" id="{ED8D419F-D6F4-7A9D-0945-4498D47F0A66}"/>
              </a:ext>
            </a:extLst>
          </p:cNvPr>
          <p:cNvPicPr>
            <a:picLocks noChangeAspect="1"/>
          </p:cNvPicPr>
          <p:nvPr/>
        </p:nvPicPr>
        <p:blipFill>
          <a:blip r:embed="rId2">
            <a:extLst>
              <a:ext uri="{28A0092B-C50C-407E-A947-70E740481C1C}">
                <a14:useLocalDpi xmlns:a14="http://schemas.microsoft.com/office/drawing/2010/main" val="0"/>
              </a:ext>
            </a:extLst>
          </a:blip>
          <a:srcRect l="19032" t="2833" r="22581"/>
          <a:stretch/>
        </p:blipFill>
        <p:spPr>
          <a:xfrm>
            <a:off x="1681315" y="653601"/>
            <a:ext cx="8540562" cy="6135573"/>
          </a:xfrm>
          <a:prstGeom prst="rect">
            <a:avLst/>
          </a:prstGeom>
        </p:spPr>
      </p:pic>
    </p:spTree>
    <p:extLst>
      <p:ext uri="{BB962C8B-B14F-4D97-AF65-F5344CB8AC3E}">
        <p14:creationId xmlns:p14="http://schemas.microsoft.com/office/powerpoint/2010/main" val="300250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C393D-62C5-7258-E24B-04BCD18D0E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CBFF8F-D2F2-AFB6-EC95-0F303FF8544F}"/>
              </a:ext>
            </a:extLst>
          </p:cNvPr>
          <p:cNvSpPr>
            <a:spLocks noGrp="1"/>
          </p:cNvSpPr>
          <p:nvPr>
            <p:ph type="title"/>
          </p:nvPr>
        </p:nvSpPr>
        <p:spPr>
          <a:xfrm>
            <a:off x="838200" y="39329"/>
            <a:ext cx="10515600" cy="696759"/>
          </a:xfrm>
        </p:spPr>
        <p:txBody>
          <a:bodyPr/>
          <a:lstStyle/>
          <a:p>
            <a:pPr algn="ctr"/>
            <a:r>
              <a:rPr lang="en-US" b="1" dirty="0">
                <a:latin typeface="Times New Roman" panose="02020603050405020304" pitchFamily="18" charset="0"/>
                <a:cs typeface="Times New Roman" panose="02020603050405020304" pitchFamily="18" charset="0"/>
              </a:rPr>
              <a:t>CONCLUSION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DC29DDE-8212-CD89-4E6C-AFC24DC039AC}"/>
              </a:ext>
            </a:extLst>
          </p:cNvPr>
          <p:cNvSpPr>
            <a:spLocks noGrp="1"/>
          </p:cNvSpPr>
          <p:nvPr>
            <p:ph idx="1"/>
          </p:nvPr>
        </p:nvSpPr>
        <p:spPr>
          <a:xfrm>
            <a:off x="394855" y="895070"/>
            <a:ext cx="11560500" cy="5067859"/>
          </a:xfrm>
        </p:spPr>
        <p:txBody>
          <a:bodyPr>
            <a:noAutofit/>
          </a:bodyPr>
          <a:lstStyle/>
          <a:p>
            <a:pPr marL="0" indent="0">
              <a:buNone/>
            </a:pPr>
            <a:r>
              <a:rPr lang="en-US" sz="4000" dirty="0">
                <a:latin typeface="Times New Roman" panose="02020603050405020304" pitchFamily="18" charset="0"/>
                <a:ea typeface="Open Sans" pitchFamily="34" charset="-122"/>
                <a:cs typeface="Times New Roman" panose="02020603050405020304" pitchFamily="18" charset="0"/>
              </a:rPr>
              <a:t>The development of a portable land parameter measuring device powered by machine learning holds significant potential for revolutionizing agricultural practices and environmental monitoring. By providing real-time data and analytical insights, this device can empower farmers, scientists, and researchers to make informed decisions, optimize resource utilization, and contribute to sustainable land management and environmental conservation.</a:t>
            </a:r>
            <a:endParaRPr lang="en-US"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918031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TM02836342[[fn=Ion]]</Template>
  <TotalTime>724</TotalTime>
  <Words>745</Words>
  <Application>Microsoft Office PowerPoint</Application>
  <PresentationFormat>Widescreen</PresentationFormat>
  <Paragraphs>90</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Century Gothic</vt:lpstr>
      <vt:lpstr>Georgia</vt:lpstr>
      <vt:lpstr>Times New Roman</vt:lpstr>
      <vt:lpstr>Wingdings</vt:lpstr>
      <vt:lpstr>Wingdings 3</vt:lpstr>
      <vt:lpstr>Ion</vt:lpstr>
      <vt:lpstr>PowerPoint Presentation</vt:lpstr>
      <vt:lpstr>CONTENTS</vt:lpstr>
      <vt:lpstr>ABSTRACT</vt:lpstr>
      <vt:lpstr>FUNCTIONAL REQUIREMENTS</vt:lpstr>
      <vt:lpstr>PowerPoint Presentation</vt:lpstr>
      <vt:lpstr>PowerPoint Presentation</vt:lpstr>
      <vt:lpstr>NON-FUNCTIONAL REQUIREMENTS</vt:lpstr>
      <vt:lpstr>NON-FUNCTIONAL REQUIREMENTS</vt:lpstr>
      <vt:lpstr>PowerPoint Presentation</vt:lpstr>
      <vt:lpstr>UML DIAGRAMS</vt:lpstr>
      <vt:lpstr>PowerPoint Presentation</vt:lpstr>
      <vt:lpstr>PowerPoint Presentation</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Prashanth Kumar</dc:creator>
  <cp:lastModifiedBy>Prashanth Kumar</cp:lastModifiedBy>
  <cp:revision>24</cp:revision>
  <dcterms:created xsi:type="dcterms:W3CDTF">2025-05-07T01:57:19Z</dcterms:created>
  <dcterms:modified xsi:type="dcterms:W3CDTF">2025-07-10T06:25:03Z</dcterms:modified>
</cp:coreProperties>
</file>