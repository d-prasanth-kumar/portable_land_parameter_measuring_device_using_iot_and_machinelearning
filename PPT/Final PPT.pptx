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61" r:id="rId14"/>
    <p:sldId id="262" r:id="rId15"/>
    <p:sldId id="263" r:id="rId16"/>
    <p:sldId id="264" r:id="rId17"/>
    <p:sldId id="265" r:id="rId18"/>
    <p:sldId id="266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737E2D4-870F-A121-3192-CF65A5CEF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2983" y="1700982"/>
            <a:ext cx="11163714" cy="1380678"/>
          </a:xfrm>
        </p:spPr>
        <p:txBody>
          <a:bodyPr>
            <a:noAutofit/>
          </a:bodyPr>
          <a:lstStyle/>
          <a:p>
            <a:pPr algn="ctr"/>
            <a:r>
              <a:rPr lang="en-IN" sz="1600" b="1" dirty="0">
                <a:latin typeface="Georgia" panose="02040502050405020303" pitchFamily="18" charset="0"/>
              </a:rPr>
              <a:t>DEPARTMENT OF COMPUTER SCIENCE &amp; COMPUTER APPLICATIONS</a:t>
            </a:r>
          </a:p>
          <a:p>
            <a:endParaRPr lang="en-IN" sz="1600" b="1" dirty="0"/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PORTABLE LAND PARAMETER MEASURING DEVICE ON MACHINE LEARNING USING IoT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46296-ECB5-2A24-CABE-746A5D84EEF4}"/>
              </a:ext>
            </a:extLst>
          </p:cNvPr>
          <p:cNvSpPr txBox="1"/>
          <p:nvPr/>
        </p:nvSpPr>
        <p:spPr>
          <a:xfrm>
            <a:off x="-2784021" y="717756"/>
            <a:ext cx="152624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Times New Roman" pitchFamily="18" charset="0"/>
                <a:cs typeface="Times New Roman" pitchFamily="18" charset="0"/>
              </a:rPr>
              <a:t>                   GAYATRI VIDYA PARISHAD</a:t>
            </a:r>
            <a:br>
              <a:rPr lang="en-US" sz="32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latin typeface="Times New Roman" pitchFamily="18" charset="0"/>
                <a:cs typeface="Times New Roman" pitchFamily="18" charset="0"/>
              </a:rPr>
              <a:t>                        COLLEGE FOR DEGREE AND PG COURSES (A)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7CF3C7-330F-2DD7-4252-FD3DF3A97E06}"/>
              </a:ext>
            </a:extLst>
          </p:cNvPr>
          <p:cNvSpPr txBox="1"/>
          <p:nvPr/>
        </p:nvSpPr>
        <p:spPr>
          <a:xfrm>
            <a:off x="584734" y="4620394"/>
            <a:ext cx="4124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Mr.B.DIVAKAR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2971B-E266-1A0E-B391-19C9B2BCCE06}"/>
              </a:ext>
            </a:extLst>
          </p:cNvPr>
          <p:cNvSpPr txBox="1"/>
          <p:nvPr/>
        </p:nvSpPr>
        <p:spPr>
          <a:xfrm>
            <a:off x="9092647" y="4343395"/>
            <a:ext cx="2651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D.PRASANTH KUMAR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PG232406003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(2023-25)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SEM-IV</a:t>
            </a:r>
          </a:p>
        </p:txBody>
      </p:sp>
      <p:pic>
        <p:nvPicPr>
          <p:cNvPr id="8" name="Picture 7" descr="A picture containing diagram&#10;&#10;Description automatically generated">
            <a:extLst>
              <a:ext uri="{FF2B5EF4-FFF2-40B4-BE49-F238E27FC236}">
                <a16:creationId xmlns:a16="http://schemas.microsoft.com/office/drawing/2014/main" id="{22B3DBD0-A843-69E3-DD52-0329BF09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01" y="649969"/>
            <a:ext cx="1194574" cy="1145005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F68BF0-F2D8-574F-451D-1B5F231CA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9833" y="591485"/>
            <a:ext cx="1194574" cy="120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1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EED7C40-3D9E-A915-760A-3FBA4C39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37" y="119655"/>
            <a:ext cx="10515600" cy="88357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2742B8-7A83-FCF2-7A85-78966DB8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582"/>
            <a:ext cx="10515600" cy="529336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Observations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87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A42898B-F7BC-2D55-1F28-9E915670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DC6F2A3-7096-395B-B2AB-4E558E13C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252607"/>
            <a:ext cx="11169445" cy="5237018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 conditions play a key role in farming and crop selection.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land parameters like soil moisture, temperature, pH, and EC help us understand soil health.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to check these are slow, expensive, and not portable.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smart, low-cost device that gives instant readings.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 portable device that collects land and soil data using sensors.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processed using Machine Learning to predict pH, EC, soil type, and suitable crops.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shown on an LCD screen and can also be viewed online through a web page.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63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69C1D-E4A7-C90A-1A42-B0789DC6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3ABE9F5-DADA-E61E-35C6-C2C836D1C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C6308C-155C-35FA-7D71-DF066B091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015013"/>
            <a:ext cx="11169445" cy="4827973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often don’t have quick access to soil health information before starting cultivation.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soil testing methods are time-consuming, costly, and require lab support.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rural areas lack proper soil analysis tools that are easy to use in the field.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compact, low-cost device that shows real-time soil data and crop suggestions.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8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4ACD-7E42-E7DC-004F-10C4157A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643C7B-2823-609E-A83D-9B3C1DCE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36A30D-C843-A0B7-B9F5-789E0729B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059258"/>
            <a:ext cx="11169445" cy="4739483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smart device that measures key land/soil parameters using sensors.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important values like pH, EC, and soil type using Machine Learning.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suggest the most suitable crop based on real-time data.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results on an LCD screen and a web-based interface.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system that is portable, affordable, and easy to use for farmers.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7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80A8-EBFA-E3C9-D1A7-5BE2C394A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25296DB-2984-0971-2255-83BF85AB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8278D7-2B8C-C089-AC2F-64BE633E5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059258"/>
            <a:ext cx="11169445" cy="55286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8C2E793-8C3F-1A7C-5F4B-298E518998AB}"/>
              </a:ext>
            </a:extLst>
          </p:cNvPr>
          <p:cNvSpPr txBox="1">
            <a:spLocks/>
          </p:cNvSpPr>
          <p:nvPr/>
        </p:nvSpPr>
        <p:spPr>
          <a:xfrm>
            <a:off x="511277" y="1156465"/>
            <a:ext cx="7964129" cy="2015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ESP32 Microcontroller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small computer that controls sensors and processes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sensor data, processes it, and sends it wirelessly via Wi-Fi/Bluetooth.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9F8DF9-6741-0CBC-D0CF-FDAF7F7E5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6010" y="1032387"/>
            <a:ext cx="1901300" cy="23080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E3BB86D-FAC3-3D67-8665-8A596F9CAB44}"/>
              </a:ext>
            </a:extLst>
          </p:cNvPr>
          <p:cNvSpPr txBox="1"/>
          <p:nvPr/>
        </p:nvSpPr>
        <p:spPr>
          <a:xfrm>
            <a:off x="511277" y="4270453"/>
            <a:ext cx="796413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Soil Moisture Sensor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water content in the soil.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farmers decide when to water crops, preventing overwatering or dryness.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D01F21-44C5-2841-B273-24FCE9D801C1}"/>
              </a:ext>
            </a:extLst>
          </p:cNvPr>
          <p:cNvCxnSpPr>
            <a:cxnSpLocks/>
          </p:cNvCxnSpPr>
          <p:nvPr/>
        </p:nvCxnSpPr>
        <p:spPr>
          <a:xfrm flipV="1">
            <a:off x="275303" y="3537154"/>
            <a:ext cx="11513574" cy="71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22" name="Picture 2" descr="Soil Moisture Sensor Module">
            <a:extLst>
              <a:ext uri="{FF2B5EF4-FFF2-40B4-BE49-F238E27FC236}">
                <a16:creationId xmlns:a16="http://schemas.microsoft.com/office/drawing/2014/main" id="{9BB16F42-8CA3-65EF-357A-6F1783C7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010" y="4270453"/>
            <a:ext cx="1901300" cy="201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692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E570-1F1F-04E4-3A87-AECA42E7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5437B1F-AFC6-1E3C-BEB0-1D2AE42081E2}"/>
              </a:ext>
            </a:extLst>
          </p:cNvPr>
          <p:cNvSpPr txBox="1"/>
          <p:nvPr/>
        </p:nvSpPr>
        <p:spPr>
          <a:xfrm>
            <a:off x="481781" y="961971"/>
            <a:ext cx="81017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Soil Temperature Sensor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Checks the temperature of the soil.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in planting crops at the right time and managing soil conditions.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C28DCF-7CCF-062F-8B7E-F4D5049A5245}"/>
              </a:ext>
            </a:extLst>
          </p:cNvPr>
          <p:cNvCxnSpPr>
            <a:cxnSpLocks/>
          </p:cNvCxnSpPr>
          <p:nvPr/>
        </p:nvCxnSpPr>
        <p:spPr>
          <a:xfrm flipV="1">
            <a:off x="275303" y="3537154"/>
            <a:ext cx="11513574" cy="71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F6B025DC-F2CD-56E4-2B5C-85C523F7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024" y="772399"/>
            <a:ext cx="2018613" cy="219502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BEC628C-1192-F99E-7DB3-1D6FF39762C5}"/>
              </a:ext>
            </a:extLst>
          </p:cNvPr>
          <p:cNvSpPr txBox="1"/>
          <p:nvPr/>
        </p:nvSpPr>
        <p:spPr>
          <a:xfrm>
            <a:off x="481781" y="4080147"/>
            <a:ext cx="81017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Humidity &amp; Temperature Sensor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air moisture and temperature.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in monitoring weather conditions and preventing plant diseases.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243F142-24F8-52AB-073F-74D21D06A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024" y="3942736"/>
            <a:ext cx="2018613" cy="214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98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55D5-7ABA-5531-EEF1-5A9656BE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B1F9756A-C605-E703-17CB-72E714A220B3}"/>
              </a:ext>
            </a:extLst>
          </p:cNvPr>
          <p:cNvSpPr txBox="1"/>
          <p:nvPr/>
        </p:nvSpPr>
        <p:spPr>
          <a:xfrm>
            <a:off x="481781" y="961971"/>
            <a:ext cx="77084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16x2 I2C Display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display module that shows 16 characters per line on 2 lines, connected via I2C protocol.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sensor values and ML predictions clearly, one-by-one.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790326-3B8F-BA3A-26A2-A2C98838D259}"/>
              </a:ext>
            </a:extLst>
          </p:cNvPr>
          <p:cNvCxnSpPr>
            <a:cxnSpLocks/>
          </p:cNvCxnSpPr>
          <p:nvPr/>
        </p:nvCxnSpPr>
        <p:spPr>
          <a:xfrm flipV="1">
            <a:off x="275303" y="3537154"/>
            <a:ext cx="11513574" cy="71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3C2063-3FC7-6EAF-DEBB-459FE8DF3552}"/>
              </a:ext>
            </a:extLst>
          </p:cNvPr>
          <p:cNvSpPr txBox="1"/>
          <p:nvPr/>
        </p:nvSpPr>
        <p:spPr>
          <a:xfrm>
            <a:off x="481781" y="4178168"/>
            <a:ext cx="77084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3.7V Li-ion Battery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rechargeable battery that serves as the portable power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Powers all components when operating in the field without USB.</a:t>
            </a:r>
          </a:p>
        </p:txBody>
      </p:sp>
      <p:pic>
        <p:nvPicPr>
          <p:cNvPr id="6146" name="Picture 2" descr="16×2 LCD Display with I2C Interface">
            <a:extLst>
              <a:ext uri="{FF2B5EF4-FFF2-40B4-BE49-F238E27FC236}">
                <a16:creationId xmlns:a16="http://schemas.microsoft.com/office/drawing/2014/main" id="{B0EA05DD-B7D8-2600-D69B-7E59ED75C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503" y="698091"/>
            <a:ext cx="2350147" cy="235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3.7V 1200mAH 18650 Rechargeable Lithium Ion Battery">
            <a:extLst>
              <a:ext uri="{FF2B5EF4-FFF2-40B4-BE49-F238E27FC236}">
                <a16:creationId xmlns:a16="http://schemas.microsoft.com/office/drawing/2014/main" id="{8888ED92-5AB7-8904-D9CC-9D1B8E065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503" y="3977523"/>
            <a:ext cx="2350148" cy="221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539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85F2-1865-2993-5445-2757E5EF6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A69174D-8489-9BBC-B418-9D6692A62D61}"/>
              </a:ext>
            </a:extLst>
          </p:cNvPr>
          <p:cNvSpPr txBox="1"/>
          <p:nvPr/>
        </p:nvSpPr>
        <p:spPr>
          <a:xfrm>
            <a:off x="481781" y="961971"/>
            <a:ext cx="77084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TP4056 Charging Module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 battery charging module with micro-USB input for safe charging of Li-ion batteries.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battery charging and prevents overcharging or damage.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DCC6A5-E593-78E9-013F-6FC8C6BFFE54}"/>
              </a:ext>
            </a:extLst>
          </p:cNvPr>
          <p:cNvCxnSpPr>
            <a:cxnSpLocks/>
          </p:cNvCxnSpPr>
          <p:nvPr/>
        </p:nvCxnSpPr>
        <p:spPr>
          <a:xfrm flipV="1">
            <a:off x="275303" y="3537154"/>
            <a:ext cx="11513574" cy="71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BE0BC6B-8A78-A244-6173-0462560DD55A}"/>
              </a:ext>
            </a:extLst>
          </p:cNvPr>
          <p:cNvSpPr txBox="1"/>
          <p:nvPr/>
        </p:nvSpPr>
        <p:spPr>
          <a:xfrm>
            <a:off x="481781" y="4178168"/>
            <a:ext cx="77084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MT3608 Boost Converter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voltage step-up module that increases 3.7V battery power to 5V.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ESP32 and sensors get sufficient voltage to function properly.</a:t>
            </a:r>
          </a:p>
        </p:txBody>
      </p:sp>
      <p:pic>
        <p:nvPicPr>
          <p:cNvPr id="7170" name="Picture 2" descr="TP4056 Battery Charging Module – with Protection – For Li-ion Battery –  ControllersTech®">
            <a:extLst>
              <a:ext uri="{FF2B5EF4-FFF2-40B4-BE49-F238E27FC236}">
                <a16:creationId xmlns:a16="http://schemas.microsoft.com/office/drawing/2014/main" id="{C44F6667-9724-E0A0-FF60-6B16ADAAD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175" y="877431"/>
            <a:ext cx="2272162" cy="224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T3608 2A DC-DC Booster Module - Step Up (Boost) Power Module">
            <a:extLst>
              <a:ext uri="{FF2B5EF4-FFF2-40B4-BE49-F238E27FC236}">
                <a16:creationId xmlns:a16="http://schemas.microsoft.com/office/drawing/2014/main" id="{FA8AB2B8-E9F6-0067-FD25-2142CF58C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175" y="4178168"/>
            <a:ext cx="2272162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39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DF49-4D45-0AAF-9BC3-5EE0763D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2F679580-0EF0-09E0-2020-5B242EDAC89E}"/>
              </a:ext>
            </a:extLst>
          </p:cNvPr>
          <p:cNvSpPr txBox="1"/>
          <p:nvPr/>
        </p:nvSpPr>
        <p:spPr>
          <a:xfrm>
            <a:off x="481781" y="961971"/>
            <a:ext cx="77084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 reusable prototyping board used to make temporary circuit connections without soldering.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ESP32, sensors, and other modules for testing and final setup.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6BF65A-437F-590E-EDA0-AE381FD84D79}"/>
              </a:ext>
            </a:extLst>
          </p:cNvPr>
          <p:cNvCxnSpPr>
            <a:cxnSpLocks/>
          </p:cNvCxnSpPr>
          <p:nvPr/>
        </p:nvCxnSpPr>
        <p:spPr>
          <a:xfrm flipV="1">
            <a:off x="275303" y="3537154"/>
            <a:ext cx="11513574" cy="71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77C837A-5F77-1220-74CA-1C2E536C5833}"/>
              </a:ext>
            </a:extLst>
          </p:cNvPr>
          <p:cNvSpPr txBox="1"/>
          <p:nvPr/>
        </p:nvSpPr>
        <p:spPr>
          <a:xfrm>
            <a:off x="501445" y="4178168"/>
            <a:ext cx="77084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Jumper Wires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wires with pin connectors used for making electrical connections.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different components (sensors, ESP32, LCD, etc.) on the breadboard.</a:t>
            </a:r>
          </a:p>
        </p:txBody>
      </p:sp>
      <p:pic>
        <p:nvPicPr>
          <p:cNvPr id="8194" name="Picture 2" descr="Full Sized Premium Breadboard - 830 Tie Points : ID 239 : Adafruit  Industries, Unique &amp; fun DIY electronics and kits">
            <a:extLst>
              <a:ext uri="{FF2B5EF4-FFF2-40B4-BE49-F238E27FC236}">
                <a16:creationId xmlns:a16="http://schemas.microsoft.com/office/drawing/2014/main" id="{B870EC7F-6F6E-72BA-5053-829EE755F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845" y="850393"/>
            <a:ext cx="2695284" cy="224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pTechDeals Jumper Wires Male to Male, Male to Female, Female to Female/breadboard jumper wires (10+10+10)">
            <a:extLst>
              <a:ext uri="{FF2B5EF4-FFF2-40B4-BE49-F238E27FC236}">
                <a16:creationId xmlns:a16="http://schemas.microsoft.com/office/drawing/2014/main" id="{92F0E666-AC6E-8B87-B34F-F51D6BC07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844" y="4178168"/>
            <a:ext cx="2695285" cy="205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185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C73F-A4CA-384F-C2D7-9C455F9A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FCDDA2-EAE8-D482-4B19-9342D2CEC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527D61-62DA-8D8D-3F3E-42781E831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2" y="1150374"/>
            <a:ext cx="11415251" cy="53585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Arduino IDE -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and uploading code to the ESP32 microcontroller.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ESP32 libraries, sensor libraries, and easy serial monitoring.</a:t>
            </a:r>
          </a:p>
          <a:p>
            <a:pPr marL="0" indent="0"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Python -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backend development and running Machine Learning models.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write the Flask server and handle ML model predictions.</a:t>
            </a:r>
          </a:p>
          <a:p>
            <a:pPr marL="0" indent="0">
              <a:buNone/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Flask (Python Framework) -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REST API endpoints (/predict, /latest) for ESP32 communication.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perfect for small-scale IoT applications.</a:t>
            </a:r>
          </a:p>
        </p:txBody>
      </p:sp>
    </p:spTree>
    <p:extLst>
      <p:ext uri="{BB962C8B-B14F-4D97-AF65-F5344CB8AC3E}">
        <p14:creationId xmlns:p14="http://schemas.microsoft.com/office/powerpoint/2010/main" val="600993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F78E9-FABC-CA0B-4B5C-F6011C22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B88FCD4-DDC6-8EFD-6C3A-38BBE2CD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CC89A2-D970-5FEE-70D0-7EB31FD75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2" y="1150374"/>
            <a:ext cx="11415251" cy="53585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PythonAnywhere -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 platform for deploying the Flask server.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device portable and accessible from any location.</a:t>
            </a:r>
          </a:p>
          <a:p>
            <a:pPr marL="0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 Studio Code (VS Code) -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developing Python ML scripts and backend code.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code editor with extensions for Python, Flask, and Git integration.</a:t>
            </a:r>
          </a:p>
          <a:p>
            <a:pPr marL="0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Frontend (HTML + JavaScript) -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sensor and prediction data from Flask’s /latest endpoint.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live monitoring on any web browser or device.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244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D95F-AB7D-C6E6-7DA1-065DDD98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800673-426F-7304-1F5E-D7889040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7E59437-BE82-50EA-1B4B-CB2984CB3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172" y="1622656"/>
            <a:ext cx="11169650" cy="496529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F969F7-C8B6-1163-2D6D-CD55FACA69BE}"/>
              </a:ext>
            </a:extLst>
          </p:cNvPr>
          <p:cNvSpPr txBox="1"/>
          <p:nvPr/>
        </p:nvSpPr>
        <p:spPr>
          <a:xfrm>
            <a:off x="3905862" y="1033124"/>
            <a:ext cx="4380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System Overview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392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22CC9-AAB9-CE6A-9A48-79AF8DDC3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3C3DFC-24F3-0293-EEF9-6741D52FF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42452"/>
            <a:ext cx="11169445" cy="604717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Power Supply System: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is powered using a 3.7V Li-ion battery (commonly used rechargeable battery).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ESP32 and sensors need higher voltage (around 5V), a Boost Converter (MT3608) is used to step up 3.7V to 5V.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TP4056 module is used to charge the battery safely and control overcharging.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switch is placed after the Battery to turn the system ON or OFF manually.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power system provides required voltage to all connected components: ESP32, sensors, and LCD display.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460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DC35-761A-5DE6-4461-832C2619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4FE4B8-DF1D-4473-7461-1499ACB89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42452"/>
            <a:ext cx="11169445" cy="6047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Sensor Data Collection: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 → Measures soil moisture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 → Measures ambient temperature and humidity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DS18B20 Sensor → Measures soil temperature (digital)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ESP32 (Data Handling &amp; Communication):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reads values from all the sensors.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WiFiManager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connect to saved Wi-Fi or open hotspot for new Wi-Fi configuration.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Formats sensor readings into JSON format.</a:t>
            </a:r>
          </a:p>
          <a:p>
            <a:pPr marL="0" indent="0"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834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078F-EC3E-DFC6-D8FD-77E41E68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B6406C-7D3F-B4A9-9268-061520705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324466"/>
            <a:ext cx="11169445" cy="616516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sensor data to a Flask server via HTTP POST request to the /predict endpoint.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Waits for the server to return the predicted results like pH, EC, Soil Type, and Suitable Crop.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 (PythonAnywhere – Flask Server)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server hosted in the cloud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sensor data at /predict endpoint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predictions from anywhere (IoT portability)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61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C3887-E893-39BF-5F4C-8D0E9AA9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19ACF2-F359-B4CF-5BDA-D388163A1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42453"/>
            <a:ext cx="11169445" cy="60861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Machine Learning Predictions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loads 4 trained ML models:</a:t>
            </a:r>
          </a:p>
          <a:p>
            <a:pPr lvl="1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pH_model.pkl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Soil pH</a:t>
            </a:r>
          </a:p>
          <a:p>
            <a:pPr lvl="1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EC_model.pkl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Soil EC</a:t>
            </a:r>
          </a:p>
          <a:p>
            <a:pPr lvl="1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soil_type_model.pkl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Soil Type</a:t>
            </a:r>
          </a:p>
          <a:p>
            <a:pPr lvl="1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crop_model.pkl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predicts Suitable Crop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prediction back as JSON response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updates /latest endpoint for web dashboard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Appends data to live CSV dataset</a:t>
            </a:r>
          </a:p>
        </p:txBody>
      </p:sp>
    </p:spTree>
    <p:extLst>
      <p:ext uri="{BB962C8B-B14F-4D97-AF65-F5344CB8AC3E}">
        <p14:creationId xmlns:p14="http://schemas.microsoft.com/office/powerpoint/2010/main" val="2310211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A6A3-BA1B-DB5E-B8EB-F203EBD8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E61A9E-1C17-BC34-EA79-23D1B3A00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42453"/>
            <a:ext cx="11169445" cy="26547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Output Display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receives response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each value one-by-one on 16x2 LCD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updates data on frontend via /latest endpoint</a:t>
            </a:r>
          </a:p>
        </p:txBody>
      </p:sp>
    </p:spTree>
    <p:extLst>
      <p:ext uri="{BB962C8B-B14F-4D97-AF65-F5344CB8AC3E}">
        <p14:creationId xmlns:p14="http://schemas.microsoft.com/office/powerpoint/2010/main" val="348723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816F-3BC8-5C15-9827-2E8E9EEA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C4E968-42F0-82EC-92E3-FC8B1CBB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140541"/>
            <a:ext cx="11169445" cy="53684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Overview: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Machine Learning models to predict: Soil pH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Electrical Conductivity (EC), Soil Type, Suitable Crop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to predict: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train models with respect to the sensor readings which helps in predictions. The models created will be like –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pH_model.pkl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EC_model.pkl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soil_type_model.pkl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crop_model.pkl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97ECED-5281-A1DF-5D86-14F2FAB0B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482" y="2240438"/>
            <a:ext cx="8876971" cy="5630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42053-BD51-A259-3A26-4161CDA26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268" y="3429000"/>
            <a:ext cx="4391430" cy="15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70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E299-6656-123A-AEC2-EB1578FDB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67116B-717A-B5F2-4F11-051D1FE28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52285"/>
            <a:ext cx="11169445" cy="60566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 for Training: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rows: e.g., ~200+ data points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Soil Moisture, Ambient Temp, Humidity, Soil Temp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Targets/Labels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pH, EC, Soil Type, Suitable Crop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294B2-1BE7-AFBF-350F-FCDC7E9F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56" y="2719026"/>
            <a:ext cx="9699401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501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D3114-C4A7-1DF5-BE46-93988A0F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FD9C9E-9E4B-847F-C45C-D0A33E67D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42452"/>
            <a:ext cx="11169445" cy="61844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trained 4 separate Machine Learning models to make predictions: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Models: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Predicts Soil pH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Predicts Soil EC (Electrical Conductivity)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Predicts Soil Type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Predicts Suitable Crop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21E8A5-D44E-C132-5382-43449AAEB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34" y="4107034"/>
            <a:ext cx="4879721" cy="22052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60751-1D00-66E3-6350-54BAE0D7E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596" y="4107034"/>
            <a:ext cx="5223849" cy="220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864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6AAAC-E096-013A-4546-6AD67CED1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615A2D-AC88-CFC8-AE35-96B68B49F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42452"/>
            <a:ext cx="11169445" cy="61844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Server Overview: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load all the models which we trained and created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Input Sensor values which ESP32 sent via HTTP POST request to flask server at /predict endpoint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sends (POST) sensor data , and server receives and processes it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then predicts pH, EC, Soil type, and crop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responds with prediction in JSON</a:t>
            </a: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9988BB-73C8-7A87-9195-A87963634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85" y="953854"/>
            <a:ext cx="5087060" cy="1305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089B34-FC64-7128-CD2B-6D0FDE7C4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41" y="2691618"/>
            <a:ext cx="4544059" cy="1960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211D29-C714-D6BA-2435-BC0C2376C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999" y="2604061"/>
            <a:ext cx="5747424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53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C13E-A919-1DFC-60BE-DC048B64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800A56-B399-B8B9-85B5-44AC5336C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9" y="442452"/>
            <a:ext cx="11385754" cy="60370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sending the data and prediction is made: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stores it in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latest_data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dictionary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Later, other devices (like in frontend/browser)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might want to just see the latest prediction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that: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make a GET request to /latest endpoint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input is needed from them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simply retrieving previously saved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5F159-2A9A-8EF5-A283-1BDE74B5D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601" y="442452"/>
            <a:ext cx="3934374" cy="24101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9A83D5-A42A-934F-A93F-9BE4137C0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937" y="3660868"/>
            <a:ext cx="4885702" cy="260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36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927FF-6302-224F-9A0E-09ED300BF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CF0CF5-0925-C9FE-5EB6-7DEEE2E7F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442452"/>
            <a:ext cx="11169445" cy="610583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/predict – POST request (HTTP method) It was called by ESP32 to send the sensor data. Server uses ML models to predict and return data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/latest – GET request (HTTP method) It was called by browser to get the latest prediction. It just returns the last prediction in memory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deploy our flask server and models in Cloud(Python anywhere) such that we can run our server all the time and it makes predictions and returns the values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85E6D-5A1F-FA77-2A10-73B088431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591" y="4090218"/>
            <a:ext cx="5029902" cy="211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02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C667C-DD6E-0FCC-F681-A8396AEE0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398931D-3460-1617-9FDF-3045CD10E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8" y="442452"/>
            <a:ext cx="5928851" cy="610583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Dashboard: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+ JavaScript frontend page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live values in a clean layout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refreshes data every few seconds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Fetches data from Flask server using: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request to /latest endpoint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most recently predicted values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3D2CC-4190-6775-2BE0-B9FD0994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76" t="1132" r="25709" b="11888"/>
          <a:stretch>
            <a:fillRect/>
          </a:stretch>
        </p:blipFill>
        <p:spPr>
          <a:xfrm>
            <a:off x="6609762" y="945691"/>
            <a:ext cx="5070960" cy="509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35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B6168-D0EF-C94E-4E7E-754148A4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2861D6-8339-46A2-EDFA-B86E1EC8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observations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623A95-30A8-EDD0-0E1A-26BF62AF4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2" y="1150374"/>
            <a:ext cx="11415251" cy="5358581"/>
          </a:xfrm>
        </p:spPr>
        <p:txBody>
          <a:bodyPr>
            <a:noAutofit/>
          </a:bodyPr>
          <a:lstStyle/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Predictions Observed: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predicts and displays: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pH (e.g., 6.5 – slightly acidic)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Conductivity (EC) (e.g., 980 µS/cm – moderate)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Type (e.g., Sandy, Loamy)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Crop (e.g., Tomato, Banana)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Logging: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prediction is: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on LCD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on web page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a CSV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for historical analysis</a:t>
            </a:r>
          </a:p>
          <a:p>
            <a:pPr marL="457200" lvl="1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59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0B24-C5AE-1C9E-8D05-7B0E5A8C8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1C20D8-E33D-F91F-FB37-454339578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2" y="265472"/>
            <a:ext cx="11415251" cy="624348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Data Logging CSV File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readings and predictions which are collected and calculated will be appended in this csv file for live data (historical data)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AC7912-441A-5C7D-A2DD-FFECDC87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609" y="1330243"/>
            <a:ext cx="6836745" cy="419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61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0D261-CB1B-8F3A-A712-7F390DB3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57375D-DF49-E1E2-A4C8-06156743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DA407C-392A-F29F-80CC-841A2A20D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2" y="1150374"/>
            <a:ext cx="11415251" cy="5358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Compact, battery-powered usable in fields without direct power.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processing and ML-based prediction without manual effort.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Multi-Parameter Analysis: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multiple land/soil parameters in one device.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Use: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display and web interface.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 Flexibility: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WiFiManager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easy connection to any hotspot.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readings in CSV format for future reference or analysis.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00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111A-AEE8-B231-22F0-4DA8FA630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B78E53-FDDB-DC85-9A18-1E2F35C2A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74" y="442452"/>
            <a:ext cx="11415251" cy="5358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access to communicate with the cloud server.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Runtime: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management needed for long field operations (depends on battery + load).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Screen Space: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16x2 LCD shows only 1 parameter at a time — takes time to loop through.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074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2847-6B8E-480F-09CB-4F3C549F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B56C71-DB0B-0A37-0B3E-0F1AA47A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20" y="270053"/>
            <a:ext cx="10736155" cy="69675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8E15B7-F72F-5482-EB8E-219867619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2" y="1150374"/>
            <a:ext cx="11415251" cy="53585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compact and portable land parameter measuring device using IoT and machine learning. It collects real-time data from sensors and sends it to a cloud server using ESP32. The Flask server uses trained machine learning models to predict pH, EC, soil type, and suitable crop. Results are displayed on an LCD screen and a web dashboard, offering a smart and low-cost solution to support better farming decisions.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877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391</TotalTime>
  <Words>1929</Words>
  <Application>Microsoft Office PowerPoint</Application>
  <PresentationFormat>Widescreen</PresentationFormat>
  <Paragraphs>240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Georgia</vt:lpstr>
      <vt:lpstr>Times New Roman</vt:lpstr>
      <vt:lpstr>Celestial</vt:lpstr>
      <vt:lpstr>PowerPoint Presentation</vt:lpstr>
      <vt:lpstr>CONTENTS</vt:lpstr>
      <vt:lpstr>Introduction</vt:lpstr>
      <vt:lpstr>Problem statement</vt:lpstr>
      <vt:lpstr>objectives</vt:lpstr>
      <vt:lpstr>Components</vt:lpstr>
      <vt:lpstr>PowerPoint Presentation</vt:lpstr>
      <vt:lpstr>PowerPoint Presentation</vt:lpstr>
      <vt:lpstr>PowerPoint Presentation</vt:lpstr>
      <vt:lpstr>PowerPoint Presentation</vt:lpstr>
      <vt:lpstr>Software requirements</vt:lpstr>
      <vt:lpstr>Software requirements</vt:lpstr>
      <vt:lpstr>System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observations</vt:lpstr>
      <vt:lpstr>PowerPoint Presentation</vt:lpstr>
      <vt:lpstr>Advantages &amp; limitations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Prashanth Kumar</dc:creator>
  <cp:lastModifiedBy>Prashanth Kumar</cp:lastModifiedBy>
  <cp:revision>10</cp:revision>
  <dcterms:created xsi:type="dcterms:W3CDTF">2025-07-07T12:04:55Z</dcterms:created>
  <dcterms:modified xsi:type="dcterms:W3CDTF">2025-07-07T18:36:50Z</dcterms:modified>
</cp:coreProperties>
</file>